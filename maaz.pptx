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8" r:id="rId3"/>
    <p:sldId id="281" r:id="rId4"/>
    <p:sldId id="259" r:id="rId5"/>
    <p:sldId id="282" r:id="rId6"/>
    <p:sldId id="263" r:id="rId7"/>
    <p:sldId id="275" r:id="rId8"/>
    <p:sldId id="271" r:id="rId9"/>
    <p:sldId id="276" r:id="rId10"/>
    <p:sldId id="272" r:id="rId11"/>
    <p:sldId id="277" r:id="rId12"/>
    <p:sldId id="273" r:id="rId13"/>
    <p:sldId id="278" r:id="rId14"/>
    <p:sldId id="280" r:id="rId15"/>
    <p:sldId id="279" r:id="rId16"/>
    <p:sldId id="283" r:id="rId17"/>
    <p:sldId id="284" r:id="rId18"/>
    <p:sldId id="285" r:id="rId19"/>
    <p:sldId id="270" r:id="rId20"/>
  </p:sldIdLst>
  <p:sldSz cx="18288000" cy="10287000"/>
  <p:notesSz cx="6858000" cy="9144000"/>
  <p:embeddedFontLst>
    <p:embeddedFont>
      <p:font typeface="IBM Plex Sans" panose="020B0503050203000203" pitchFamily="34" charset="0"/>
      <p:regular r:id="rId22"/>
      <p:bold r:id="rId23"/>
      <p:italic r:id="rId24"/>
      <p:boldItalic r:id="rId25"/>
    </p:embeddedFont>
    <p:embeddedFont>
      <p:font typeface="IBM Plex Sans Condensed" panose="020B0506050203000203" pitchFamily="34" charset="0"/>
      <p:regular r:id="rId26"/>
      <p:bold r:id="rId27"/>
      <p:italic r:id="rId28"/>
      <p:boldItalic r:id="rId29"/>
    </p:embeddedFont>
    <p:embeddedFont>
      <p:font typeface="IBM Plex Sans Condensed Bold" panose="020B0806050203000203" charset="0"/>
      <p:regular r:id="rId30"/>
    </p:embeddedFont>
    <p:embeddedFont>
      <p:font typeface="Open Sans" panose="020B0606030504020204" pitchFamily="3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84" autoAdjust="0"/>
    <p:restoredTop sz="94622" autoAdjust="0"/>
  </p:normalViewPr>
  <p:slideViewPr>
    <p:cSldViewPr>
      <p:cViewPr varScale="1">
        <p:scale>
          <a:sx n="72" d="100"/>
          <a:sy n="72" d="100"/>
        </p:scale>
        <p:origin x="97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ADB48-4AB5-40A0-87CF-35DCD62D6416}"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19C3AD-7DFC-4A9E-98E4-7EBA3DB7A20A}" type="slidenum">
              <a:rPr lang="en-US" smtClean="0"/>
              <a:t>‹#›</a:t>
            </a:fld>
            <a:endParaRPr lang="en-US"/>
          </a:p>
        </p:txBody>
      </p:sp>
    </p:spTree>
    <p:extLst>
      <p:ext uri="{BB962C8B-B14F-4D97-AF65-F5344CB8AC3E}">
        <p14:creationId xmlns:p14="http://schemas.microsoft.com/office/powerpoint/2010/main" val="2165757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19C3AD-7DFC-4A9E-98E4-7EBA3DB7A20A}" type="slidenum">
              <a:rPr lang="en-US" smtClean="0"/>
              <a:t>5</a:t>
            </a:fld>
            <a:endParaRPr lang="en-US"/>
          </a:p>
        </p:txBody>
      </p:sp>
    </p:spTree>
    <p:extLst>
      <p:ext uri="{BB962C8B-B14F-4D97-AF65-F5344CB8AC3E}">
        <p14:creationId xmlns:p14="http://schemas.microsoft.com/office/powerpoint/2010/main" val="664857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7.xml"/><Relationship Id="rId4" Type="http://schemas.openxmlformats.org/officeDocument/2006/relationships/image" Target="../media/image13.jpg"/></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11839" y="428818"/>
            <a:ext cx="1939923" cy="1929711"/>
          </a:xfrm>
          <a:custGeom>
            <a:avLst/>
            <a:gdLst/>
            <a:ahLst/>
            <a:cxnLst/>
            <a:rect l="l" t="t" r="r" b="b"/>
            <a:pathLst>
              <a:path w="1939923" h="1929711">
                <a:moveTo>
                  <a:pt x="0" y="0"/>
                </a:moveTo>
                <a:lnTo>
                  <a:pt x="1939923" y="0"/>
                </a:lnTo>
                <a:lnTo>
                  <a:pt x="1939923" y="1929712"/>
                </a:lnTo>
                <a:lnTo>
                  <a:pt x="0" y="1929712"/>
                </a:lnTo>
                <a:lnTo>
                  <a:pt x="0" y="0"/>
                </a:lnTo>
                <a:close/>
              </a:path>
            </a:pathLst>
          </a:custGeom>
          <a:blipFill>
            <a:blip r:embed="rId2"/>
            <a:stretch>
              <a:fillRect/>
            </a:stretch>
          </a:blipFill>
        </p:spPr>
      </p:sp>
      <p:sp>
        <p:nvSpPr>
          <p:cNvPr id="4" name="TextBox 4"/>
          <p:cNvSpPr txBox="1"/>
          <p:nvPr/>
        </p:nvSpPr>
        <p:spPr>
          <a:xfrm>
            <a:off x="3272258" y="3263787"/>
            <a:ext cx="11972311" cy="1943096"/>
          </a:xfrm>
          <a:prstGeom prst="rect">
            <a:avLst/>
          </a:prstGeom>
        </p:spPr>
        <p:txBody>
          <a:bodyPr lIns="0" tIns="0" rIns="0" bIns="0" rtlCol="0" anchor="t">
            <a:spAutoFit/>
          </a:bodyPr>
          <a:lstStyle/>
          <a:p>
            <a:pPr algn="ctr">
              <a:lnSpc>
                <a:spcPts val="8010"/>
              </a:lnSpc>
            </a:pPr>
            <a:r>
              <a:rPr lang="en-US" sz="4400" dirty="0" err="1"/>
              <a:t>AIoT</a:t>
            </a:r>
            <a:r>
              <a:rPr lang="en-US" sz="4400" dirty="0"/>
              <a:t>-Based Smart Climate-Aware Greenhouse System for Sustainable Agriculture</a:t>
            </a:r>
            <a:endParaRPr lang="en-US" sz="4272" spc="21" dirty="0">
              <a:solidFill>
                <a:srgbClr val="000000"/>
              </a:solidFill>
              <a:latin typeface="IBM Plex Sans"/>
              <a:ea typeface="IBM Plex Sans"/>
              <a:cs typeface="IBM Plex Sans"/>
              <a:sym typeface="IBM Plex Sans"/>
            </a:endParaRPr>
          </a:p>
        </p:txBody>
      </p:sp>
      <p:grpSp>
        <p:nvGrpSpPr>
          <p:cNvPr id="5" name="Group 5"/>
          <p:cNvGrpSpPr/>
          <p:nvPr/>
        </p:nvGrpSpPr>
        <p:grpSpPr>
          <a:xfrm>
            <a:off x="3150949" y="2781300"/>
            <a:ext cx="11972310" cy="2667000"/>
            <a:chOff x="0" y="-19050"/>
            <a:chExt cx="3249051" cy="861006"/>
          </a:xfrm>
        </p:grpSpPr>
        <p:sp>
          <p:nvSpPr>
            <p:cNvPr id="6" name="Freeform 6"/>
            <p:cNvSpPr/>
            <p:nvPr/>
          </p:nvSpPr>
          <p:spPr>
            <a:xfrm>
              <a:off x="31950" y="29156"/>
              <a:ext cx="3217101" cy="812800"/>
            </a:xfrm>
            <a:custGeom>
              <a:avLst/>
              <a:gdLst/>
              <a:ahLst/>
              <a:cxnLst/>
              <a:rect l="l" t="t" r="r" b="b"/>
              <a:pathLst>
                <a:path w="3217101" h="812800">
                  <a:moveTo>
                    <a:pt x="32086" y="0"/>
                  </a:moveTo>
                  <a:lnTo>
                    <a:pt x="3185014" y="0"/>
                  </a:lnTo>
                  <a:cubicBezTo>
                    <a:pt x="3193524" y="0"/>
                    <a:pt x="3201685" y="3381"/>
                    <a:pt x="3207703" y="9398"/>
                  </a:cubicBezTo>
                  <a:cubicBezTo>
                    <a:pt x="3213720" y="15415"/>
                    <a:pt x="3217101" y="23577"/>
                    <a:pt x="3217101" y="32086"/>
                  </a:cubicBezTo>
                  <a:lnTo>
                    <a:pt x="3217101" y="780714"/>
                  </a:lnTo>
                  <a:cubicBezTo>
                    <a:pt x="3217101" y="789223"/>
                    <a:pt x="3213720" y="797385"/>
                    <a:pt x="3207703" y="803402"/>
                  </a:cubicBezTo>
                  <a:cubicBezTo>
                    <a:pt x="3201685" y="809419"/>
                    <a:pt x="3193524" y="812800"/>
                    <a:pt x="3185014" y="812800"/>
                  </a:cubicBezTo>
                  <a:lnTo>
                    <a:pt x="32086" y="812800"/>
                  </a:lnTo>
                  <a:cubicBezTo>
                    <a:pt x="23577" y="812800"/>
                    <a:pt x="15415" y="809419"/>
                    <a:pt x="9398" y="803402"/>
                  </a:cubicBezTo>
                  <a:cubicBezTo>
                    <a:pt x="3381" y="797385"/>
                    <a:pt x="0" y="789223"/>
                    <a:pt x="0" y="780714"/>
                  </a:cubicBezTo>
                  <a:lnTo>
                    <a:pt x="0" y="32086"/>
                  </a:lnTo>
                  <a:cubicBezTo>
                    <a:pt x="0" y="23577"/>
                    <a:pt x="3381" y="15415"/>
                    <a:pt x="9398" y="9398"/>
                  </a:cubicBezTo>
                  <a:cubicBezTo>
                    <a:pt x="15415" y="3381"/>
                    <a:pt x="23577" y="0"/>
                    <a:pt x="32086" y="0"/>
                  </a:cubicBezTo>
                  <a:close/>
                </a:path>
              </a:pathLst>
            </a:custGeom>
            <a:solidFill>
              <a:srgbClr val="000000">
                <a:alpha val="0"/>
              </a:srgbClr>
            </a:solidFill>
            <a:ln w="113459" cap="rnd">
              <a:solidFill>
                <a:srgbClr val="000000"/>
              </a:solidFill>
              <a:prstDash val="solid"/>
              <a:round/>
            </a:ln>
          </p:spPr>
          <p:txBody>
            <a:bodyPr/>
            <a:lstStyle/>
            <a:p>
              <a:endParaRPr lang="en-US" dirty="0"/>
            </a:p>
          </p:txBody>
        </p:sp>
        <p:sp>
          <p:nvSpPr>
            <p:cNvPr id="7" name="TextBox 7"/>
            <p:cNvSpPr txBox="1"/>
            <p:nvPr/>
          </p:nvSpPr>
          <p:spPr>
            <a:xfrm>
              <a:off x="0" y="-19050"/>
              <a:ext cx="3217101" cy="831850"/>
            </a:xfrm>
            <a:prstGeom prst="rect">
              <a:avLst/>
            </a:prstGeom>
          </p:spPr>
          <p:txBody>
            <a:bodyPr lIns="50800" tIns="50800" rIns="50800" bIns="50800" rtlCol="0" anchor="ctr"/>
            <a:lstStyle/>
            <a:p>
              <a:pPr algn="ctr">
                <a:lnSpc>
                  <a:spcPts val="2492"/>
                </a:lnSpc>
              </a:pPr>
              <a:endParaRPr/>
            </a:p>
          </p:txBody>
        </p:sp>
      </p:grpSp>
      <p:grpSp>
        <p:nvGrpSpPr>
          <p:cNvPr id="17" name="Group 16">
            <a:extLst>
              <a:ext uri="{FF2B5EF4-FFF2-40B4-BE49-F238E27FC236}">
                <a16:creationId xmlns:a16="http://schemas.microsoft.com/office/drawing/2014/main" id="{7C904ECB-66B2-48CE-A9E3-494E5D890D49}"/>
              </a:ext>
            </a:extLst>
          </p:cNvPr>
          <p:cNvGrpSpPr/>
          <p:nvPr/>
        </p:nvGrpSpPr>
        <p:grpSpPr>
          <a:xfrm>
            <a:off x="2391364" y="6994049"/>
            <a:ext cx="13505273" cy="701859"/>
            <a:chOff x="3792127" y="6994049"/>
            <a:chExt cx="13505273" cy="701859"/>
          </a:xfrm>
        </p:grpSpPr>
        <p:sp>
          <p:nvSpPr>
            <p:cNvPr id="8" name="TextBox 8"/>
            <p:cNvSpPr txBox="1"/>
            <p:nvPr/>
          </p:nvSpPr>
          <p:spPr>
            <a:xfrm>
              <a:off x="3792127" y="6994049"/>
              <a:ext cx="3867358" cy="701859"/>
            </a:xfrm>
            <a:prstGeom prst="rect">
              <a:avLst/>
            </a:prstGeom>
          </p:spPr>
          <p:txBody>
            <a:bodyPr lIns="0" tIns="0" rIns="0" bIns="0" rtlCol="0" anchor="t">
              <a:spAutoFit/>
            </a:bodyPr>
            <a:lstStyle/>
            <a:p>
              <a:pPr algn="l">
                <a:lnSpc>
                  <a:spcPts val="6052"/>
                </a:lnSpc>
              </a:pPr>
              <a:r>
                <a:rPr lang="en-US" sz="3248" spc="16" dirty="0">
                  <a:solidFill>
                    <a:srgbClr val="000000"/>
                  </a:solidFill>
                  <a:latin typeface="IBM Plex Sans"/>
                  <a:ea typeface="IBM Plex Sans"/>
                  <a:cs typeface="IBM Plex Sans"/>
                  <a:sym typeface="IBM Plex Sans"/>
                </a:rPr>
                <a:t>Muhammad Maaz </a:t>
              </a:r>
            </a:p>
          </p:txBody>
        </p:sp>
        <p:sp>
          <p:nvSpPr>
            <p:cNvPr id="9" name="TextBox 9"/>
            <p:cNvSpPr txBox="1"/>
            <p:nvPr/>
          </p:nvSpPr>
          <p:spPr>
            <a:xfrm>
              <a:off x="7828911" y="6994049"/>
              <a:ext cx="4690671" cy="692434"/>
            </a:xfrm>
            <a:prstGeom prst="rect">
              <a:avLst/>
            </a:prstGeom>
          </p:spPr>
          <p:txBody>
            <a:bodyPr wrap="square" lIns="0" tIns="0" rIns="0" bIns="0" rtlCol="0" anchor="t">
              <a:spAutoFit/>
            </a:bodyPr>
            <a:lstStyle/>
            <a:p>
              <a:pPr algn="l">
                <a:lnSpc>
                  <a:spcPts val="6052"/>
                </a:lnSpc>
              </a:pPr>
              <a:r>
                <a:rPr lang="en-US" sz="3248" spc="16" dirty="0">
                  <a:solidFill>
                    <a:srgbClr val="000000"/>
                  </a:solidFill>
                  <a:latin typeface="IBM Plex Sans"/>
                  <a:ea typeface="IBM Plex Sans"/>
                  <a:cs typeface="IBM Plex Sans"/>
                  <a:sym typeface="IBM Plex Sans"/>
                </a:rPr>
                <a:t>Muhammad </a:t>
              </a:r>
              <a:r>
                <a:rPr lang="en-US" sz="3248" spc="16" dirty="0" err="1">
                  <a:solidFill>
                    <a:srgbClr val="000000"/>
                  </a:solidFill>
                  <a:latin typeface="IBM Plex Sans"/>
                  <a:ea typeface="IBM Plex Sans"/>
                  <a:cs typeface="IBM Plex Sans"/>
                  <a:sym typeface="IBM Plex Sans"/>
                </a:rPr>
                <a:t>Ibad</a:t>
              </a:r>
              <a:r>
                <a:rPr lang="en-US" sz="3248" spc="16" dirty="0">
                  <a:solidFill>
                    <a:srgbClr val="000000"/>
                  </a:solidFill>
                  <a:latin typeface="IBM Plex Sans"/>
                  <a:ea typeface="IBM Plex Sans"/>
                  <a:cs typeface="IBM Plex Sans"/>
                  <a:sym typeface="IBM Plex Sans"/>
                </a:rPr>
                <a:t> Khan</a:t>
              </a:r>
            </a:p>
          </p:txBody>
        </p:sp>
        <p:sp>
          <p:nvSpPr>
            <p:cNvPr id="10" name="TextBox 10"/>
            <p:cNvSpPr txBox="1"/>
            <p:nvPr/>
          </p:nvSpPr>
          <p:spPr>
            <a:xfrm>
              <a:off x="12606730" y="6994049"/>
              <a:ext cx="4690670" cy="692434"/>
            </a:xfrm>
            <a:prstGeom prst="rect">
              <a:avLst/>
            </a:prstGeom>
          </p:spPr>
          <p:txBody>
            <a:bodyPr wrap="square" lIns="0" tIns="0" rIns="0" bIns="0" rtlCol="0" anchor="t">
              <a:spAutoFit/>
            </a:bodyPr>
            <a:lstStyle/>
            <a:p>
              <a:pPr algn="l">
                <a:lnSpc>
                  <a:spcPts val="6052"/>
                </a:lnSpc>
              </a:pPr>
              <a:r>
                <a:rPr lang="en-US" sz="3248" spc="16" dirty="0">
                  <a:solidFill>
                    <a:srgbClr val="000000"/>
                  </a:solidFill>
                  <a:latin typeface="IBM Plex Sans"/>
                  <a:ea typeface="IBM Plex Sans"/>
                  <a:cs typeface="IBM Plex Sans"/>
                  <a:sym typeface="IBM Plex Sans"/>
                </a:rPr>
                <a:t>Muhammad Talha Khan</a:t>
              </a:r>
            </a:p>
          </p:txBody>
        </p:sp>
      </p:grpSp>
      <p:sp>
        <p:nvSpPr>
          <p:cNvPr id="13" name="TextBox 13"/>
          <p:cNvSpPr txBox="1"/>
          <p:nvPr/>
        </p:nvSpPr>
        <p:spPr>
          <a:xfrm>
            <a:off x="5815158" y="8786118"/>
            <a:ext cx="7596042" cy="482504"/>
          </a:xfrm>
          <a:prstGeom prst="rect">
            <a:avLst/>
          </a:prstGeom>
        </p:spPr>
        <p:txBody>
          <a:bodyPr wrap="square" lIns="0" tIns="0" rIns="0" bIns="0" rtlCol="0" anchor="t">
            <a:spAutoFit/>
          </a:bodyPr>
          <a:lstStyle/>
          <a:p>
            <a:pPr algn="l">
              <a:lnSpc>
                <a:spcPts val="4227"/>
              </a:lnSpc>
            </a:pPr>
            <a:r>
              <a:rPr lang="en-US" sz="2373" spc="23" dirty="0">
                <a:solidFill>
                  <a:srgbClr val="000000"/>
                </a:solidFill>
                <a:latin typeface="Open Sans"/>
                <a:ea typeface="Open Sans"/>
                <a:cs typeface="Open Sans"/>
                <a:sym typeface="Open Sans"/>
              </a:rPr>
              <a:t>Department of Computer Systems Engineering</a:t>
            </a:r>
          </a:p>
        </p:txBody>
      </p:sp>
      <p:sp>
        <p:nvSpPr>
          <p:cNvPr id="14" name="TextBox 14"/>
          <p:cNvSpPr txBox="1"/>
          <p:nvPr/>
        </p:nvSpPr>
        <p:spPr>
          <a:xfrm>
            <a:off x="5815158" y="9323035"/>
            <a:ext cx="7215042" cy="480818"/>
          </a:xfrm>
          <a:prstGeom prst="rect">
            <a:avLst/>
          </a:prstGeom>
        </p:spPr>
        <p:txBody>
          <a:bodyPr wrap="square" lIns="0" tIns="0" rIns="0" bIns="0" rtlCol="0" anchor="t">
            <a:spAutoFit/>
          </a:bodyPr>
          <a:lstStyle/>
          <a:p>
            <a:pPr algn="l">
              <a:lnSpc>
                <a:spcPts val="4227"/>
              </a:lnSpc>
            </a:pPr>
            <a:r>
              <a:rPr lang="en-US" sz="2373" spc="23" dirty="0">
                <a:solidFill>
                  <a:srgbClr val="000000"/>
                </a:solidFill>
                <a:latin typeface="Open Sans"/>
                <a:ea typeface="Open Sans"/>
                <a:cs typeface="Open Sans"/>
                <a:sym typeface="Open Sans"/>
              </a:rPr>
              <a:t>University of Engineering &amp; Technology Peshawar</a:t>
            </a:r>
          </a:p>
        </p:txBody>
      </p:sp>
      <p:sp>
        <p:nvSpPr>
          <p:cNvPr id="15" name="TextBox 15"/>
          <p:cNvSpPr txBox="1"/>
          <p:nvPr/>
        </p:nvSpPr>
        <p:spPr>
          <a:xfrm>
            <a:off x="15201340" y="9913183"/>
            <a:ext cx="876860"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1/19</a:t>
            </a:r>
          </a:p>
        </p:txBody>
      </p:sp>
      <p:pic>
        <p:nvPicPr>
          <p:cNvPr id="16" name="Picture 15">
            <a:extLst>
              <a:ext uri="{FF2B5EF4-FFF2-40B4-BE49-F238E27FC236}">
                <a16:creationId xmlns:a16="http://schemas.microsoft.com/office/drawing/2014/main" id="{EB541FD6-6958-4E85-809D-001E475E7956}"/>
              </a:ext>
            </a:extLst>
          </p:cNvPr>
          <p:cNvPicPr/>
          <p:nvPr/>
        </p:nvPicPr>
        <p:blipFill>
          <a:blip r:embed="rId3"/>
          <a:stretch>
            <a:fillRect/>
          </a:stretch>
        </p:blipFill>
        <p:spPr>
          <a:xfrm>
            <a:off x="10591800" y="483148"/>
            <a:ext cx="1927782" cy="16810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txBody>
            <a:bodyPr/>
            <a:lstStyle/>
            <a:p>
              <a:endParaRPr lang="en-US"/>
            </a:p>
          </p:txBody>
        </p:sp>
      </p:grpSp>
      <p:sp>
        <p:nvSpPr>
          <p:cNvPr id="4" name="TextBox 4"/>
          <p:cNvSpPr txBox="1"/>
          <p:nvPr/>
        </p:nvSpPr>
        <p:spPr>
          <a:xfrm>
            <a:off x="2601374" y="561928"/>
            <a:ext cx="2961226" cy="714695"/>
          </a:xfrm>
          <a:prstGeom prst="rect">
            <a:avLst/>
          </a:prstGeom>
        </p:spPr>
        <p:txBody>
          <a:bodyPr wrap="square" lIns="0" tIns="0" rIns="0" bIns="0" rtlCol="0" anchor="t">
            <a:spAutoFit/>
          </a:bodyPr>
          <a:lstStyle/>
          <a:p>
            <a:pPr algn="l">
              <a:lnSpc>
                <a:spcPts val="5981"/>
              </a:lnSpc>
            </a:pPr>
            <a:r>
              <a:rPr lang="en-US" sz="4272" spc="-34" dirty="0">
                <a:solidFill>
                  <a:srgbClr val="FFFFFF"/>
                </a:solidFill>
                <a:latin typeface="IBM Plex Sans Condensed"/>
                <a:ea typeface="IBM Plex Sans Condensed"/>
                <a:cs typeface="IBM Plex Sans Condensed"/>
                <a:sym typeface="IBM Plex Sans Condensed"/>
              </a:rPr>
              <a:t>Introduction</a:t>
            </a:r>
          </a:p>
        </p:txBody>
      </p:sp>
      <p:sp>
        <p:nvSpPr>
          <p:cNvPr id="5" name="TextBox 5"/>
          <p:cNvSpPr txBox="1"/>
          <p:nvPr/>
        </p:nvSpPr>
        <p:spPr>
          <a:xfrm>
            <a:off x="15201339" y="9913182"/>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2/19</a:t>
            </a:r>
          </a:p>
        </p:txBody>
      </p:sp>
      <p:sp>
        <p:nvSpPr>
          <p:cNvPr id="13" name="TextBox 12">
            <a:extLst>
              <a:ext uri="{FF2B5EF4-FFF2-40B4-BE49-F238E27FC236}">
                <a16:creationId xmlns:a16="http://schemas.microsoft.com/office/drawing/2014/main" id="{BD5A927E-E69A-4AA5-871A-5A078FD7C2C5}"/>
              </a:ext>
            </a:extLst>
          </p:cNvPr>
          <p:cNvSpPr txBox="1"/>
          <p:nvPr/>
        </p:nvSpPr>
        <p:spPr>
          <a:xfrm>
            <a:off x="2279746" y="2083693"/>
            <a:ext cx="13493286" cy="6247864"/>
          </a:xfrm>
          <a:prstGeom prst="rect">
            <a:avLst/>
          </a:prstGeom>
          <a:noFill/>
        </p:spPr>
        <p:txBody>
          <a:bodyPr wrap="square" rtlCol="0">
            <a:spAutoFit/>
          </a:bodyPr>
          <a:lstStyle/>
          <a:p>
            <a:r>
              <a:rPr lang="en-US" sz="4000" dirty="0"/>
              <a:t>The challenge in traditional plant care is inconsistency and delayed intervention. Environmental factors need constant, precise management. Our system addresses this by providing </a:t>
            </a:r>
            <a:r>
              <a:rPr lang="en-US" sz="4000" b="1" dirty="0"/>
              <a:t>real-time, data-driven control and medicinal plants</a:t>
            </a:r>
            <a:r>
              <a:rPr lang="en-US" sz="4000" dirty="0"/>
              <a:t>.</a:t>
            </a:r>
          </a:p>
          <a:p>
            <a:r>
              <a:rPr lang="en-US" sz="4000" dirty="0"/>
              <a:t>Our primary objective was to build an </a:t>
            </a:r>
            <a:r>
              <a:rPr lang="en-US" sz="4000" b="1" dirty="0"/>
              <a:t>Internet of Things (IoT) hardware platform</a:t>
            </a:r>
            <a:r>
              <a:rPr lang="en-US" sz="4000" dirty="0"/>
              <a:t> capable of sensing the environment and automatically controlling devices like pumps and fans, and to train a </a:t>
            </a:r>
            <a:r>
              <a:rPr lang="en-US" sz="4000" b="1" dirty="0"/>
              <a:t>Machine Learning model</a:t>
            </a:r>
            <a:r>
              <a:rPr lang="en-US" sz="4000" dirty="0"/>
              <a:t> that dictates these control actions intelligently.</a:t>
            </a:r>
          </a:p>
          <a:p>
            <a:endParaRPr lang="en-US"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txBody>
            <a:bodyPr/>
            <a:lstStyle/>
            <a:p>
              <a:endParaRPr lang="en-US" dirty="0"/>
            </a:p>
          </p:txBody>
        </p:sp>
      </p:grpSp>
      <p:sp>
        <p:nvSpPr>
          <p:cNvPr id="4" name="TextBox 4"/>
          <p:cNvSpPr txBox="1"/>
          <p:nvPr/>
        </p:nvSpPr>
        <p:spPr>
          <a:xfrm>
            <a:off x="2601374" y="561928"/>
            <a:ext cx="4637626" cy="716158"/>
          </a:xfrm>
          <a:prstGeom prst="rect">
            <a:avLst/>
          </a:prstGeom>
        </p:spPr>
        <p:txBody>
          <a:bodyPr wrap="square" lIns="0" tIns="0" rIns="0" bIns="0" rtlCol="0" anchor="t">
            <a:spAutoFit/>
          </a:bodyPr>
          <a:lstStyle/>
          <a:p>
            <a:pPr algn="l">
              <a:lnSpc>
                <a:spcPts val="5981"/>
              </a:lnSpc>
            </a:pPr>
            <a:r>
              <a:rPr lang="en-US" sz="4272" spc="-34" dirty="0">
                <a:solidFill>
                  <a:srgbClr val="FFFFFF"/>
                </a:solidFill>
                <a:latin typeface="IBM Plex Sans Condensed"/>
                <a:ea typeface="IBM Plex Sans Condensed"/>
                <a:cs typeface="IBM Plex Sans Condensed"/>
                <a:sym typeface="IBM Plex Sans Condensed"/>
              </a:rPr>
              <a:t>Automation System</a:t>
            </a:r>
          </a:p>
        </p:txBody>
      </p:sp>
      <p:sp>
        <p:nvSpPr>
          <p:cNvPr id="5" name="TextBox 5"/>
          <p:cNvSpPr txBox="1"/>
          <p:nvPr/>
        </p:nvSpPr>
        <p:spPr>
          <a:xfrm>
            <a:off x="15201339" y="9913183"/>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3/19</a:t>
            </a:r>
          </a:p>
        </p:txBody>
      </p:sp>
      <p:pic>
        <p:nvPicPr>
          <p:cNvPr id="12" name="Picture 11">
            <a:extLst>
              <a:ext uri="{FF2B5EF4-FFF2-40B4-BE49-F238E27FC236}">
                <a16:creationId xmlns:a16="http://schemas.microsoft.com/office/drawing/2014/main" id="{5EAEB7B1-04E2-4684-A0D1-63BC95B41B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9730" y="3619500"/>
            <a:ext cx="7086600" cy="5332667"/>
          </a:xfrm>
          <a:prstGeom prst="rect">
            <a:avLst/>
          </a:prstGeom>
        </p:spPr>
      </p:pic>
      <p:pic>
        <p:nvPicPr>
          <p:cNvPr id="11" name="Picture 10">
            <a:extLst>
              <a:ext uri="{FF2B5EF4-FFF2-40B4-BE49-F238E27FC236}">
                <a16:creationId xmlns:a16="http://schemas.microsoft.com/office/drawing/2014/main" id="{A42DA410-C0BC-B44B-91A9-F7E833F854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1670" y="3619499"/>
            <a:ext cx="7086600" cy="5332667"/>
          </a:xfrm>
          <a:prstGeom prst="rect">
            <a:avLst/>
          </a:prstGeom>
        </p:spPr>
      </p:pic>
    </p:spTree>
    <p:extLst>
      <p:ext uri="{BB962C8B-B14F-4D97-AF65-F5344CB8AC3E}">
        <p14:creationId xmlns:p14="http://schemas.microsoft.com/office/powerpoint/2010/main" val="3601992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sp>
      </p:grpSp>
      <p:sp>
        <p:nvSpPr>
          <p:cNvPr id="4" name="TextBox 4"/>
          <p:cNvSpPr txBox="1"/>
          <p:nvPr/>
        </p:nvSpPr>
        <p:spPr>
          <a:xfrm>
            <a:off x="2798410" y="341529"/>
            <a:ext cx="4821590" cy="715044"/>
          </a:xfrm>
          <a:prstGeom prst="rect">
            <a:avLst/>
          </a:prstGeom>
        </p:spPr>
        <p:txBody>
          <a:bodyPr wrap="square" lIns="0" tIns="0" rIns="0" bIns="0" rtlCol="0" anchor="t">
            <a:spAutoFit/>
          </a:bodyPr>
          <a:lstStyle/>
          <a:p>
            <a:pPr algn="ctr">
              <a:lnSpc>
                <a:spcPts val="5961"/>
              </a:lnSpc>
              <a:spcBef>
                <a:spcPct val="0"/>
              </a:spcBef>
            </a:pPr>
            <a:r>
              <a:rPr lang="en-US" sz="4258" spc="-34" dirty="0">
                <a:solidFill>
                  <a:srgbClr val="FFFFFF"/>
                </a:solidFill>
                <a:latin typeface="IBM Plex Sans Condensed"/>
                <a:ea typeface="IBM Plex Sans Condensed"/>
                <a:cs typeface="IBM Plex Sans Condensed"/>
                <a:sym typeface="IBM Plex Sans Condensed"/>
              </a:rPr>
              <a:t>Automation System </a:t>
            </a:r>
          </a:p>
        </p:txBody>
      </p:sp>
      <p:sp>
        <p:nvSpPr>
          <p:cNvPr id="6" name="TextBox 5">
            <a:extLst>
              <a:ext uri="{FF2B5EF4-FFF2-40B4-BE49-F238E27FC236}">
                <a16:creationId xmlns:a16="http://schemas.microsoft.com/office/drawing/2014/main" id="{D7BDC3D4-092C-4A10-922C-83C89DA8E997}"/>
              </a:ext>
            </a:extLst>
          </p:cNvPr>
          <p:cNvSpPr txBox="1"/>
          <p:nvPr/>
        </p:nvSpPr>
        <p:spPr>
          <a:xfrm>
            <a:off x="2279746" y="2083693"/>
            <a:ext cx="13722115" cy="4401205"/>
          </a:xfrm>
          <a:prstGeom prst="rect">
            <a:avLst/>
          </a:prstGeom>
          <a:noFill/>
        </p:spPr>
        <p:txBody>
          <a:bodyPr wrap="square" rtlCol="0">
            <a:spAutoFit/>
          </a:bodyPr>
          <a:lstStyle/>
          <a:p>
            <a:pPr marL="571500" indent="-571500">
              <a:buFont typeface="Wingdings" panose="05000000000000000000" pitchFamily="2" charset="2"/>
              <a:buChar char="§"/>
            </a:pPr>
            <a:r>
              <a:rPr lang="en-US" sz="4000" dirty="0"/>
              <a:t>We’re using a soil moisture sensor to check the moisture level in the soil.</a:t>
            </a:r>
          </a:p>
          <a:p>
            <a:pPr marL="571500" indent="-571500">
              <a:buFont typeface="Wingdings" panose="05000000000000000000" pitchFamily="2" charset="2"/>
              <a:buChar char="§"/>
            </a:pPr>
            <a:r>
              <a:rPr lang="en-US" sz="4000" dirty="0"/>
              <a:t> When it drops, the motor turns on and activates the irrigation system.</a:t>
            </a:r>
          </a:p>
          <a:p>
            <a:pPr marL="571500" indent="-571500">
              <a:buFont typeface="Wingdings" panose="05000000000000000000" pitchFamily="2" charset="2"/>
              <a:buChar char="§"/>
            </a:pPr>
            <a:r>
              <a:rPr lang="en-US" sz="4000" dirty="0"/>
              <a:t> The DHT22 handles temperature, so the servo motor and fan turn on when the temperature gets high. The fan speed adjusts automatically, and all readings show up on the screen.</a:t>
            </a:r>
          </a:p>
        </p:txBody>
      </p:sp>
      <p:sp>
        <p:nvSpPr>
          <p:cNvPr id="7" name="TextBox 5">
            <a:extLst>
              <a:ext uri="{FF2B5EF4-FFF2-40B4-BE49-F238E27FC236}">
                <a16:creationId xmlns:a16="http://schemas.microsoft.com/office/drawing/2014/main" id="{AB50A18E-B3C7-47B0-AFE2-0A876C302133}"/>
              </a:ext>
            </a:extLst>
          </p:cNvPr>
          <p:cNvSpPr txBox="1"/>
          <p:nvPr/>
        </p:nvSpPr>
        <p:spPr>
          <a:xfrm>
            <a:off x="15201339" y="9913183"/>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4/19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sp>
      </p:grpSp>
      <p:sp>
        <p:nvSpPr>
          <p:cNvPr id="4" name="TextBox 4"/>
          <p:cNvSpPr txBox="1"/>
          <p:nvPr/>
        </p:nvSpPr>
        <p:spPr>
          <a:xfrm>
            <a:off x="2798410" y="341529"/>
            <a:ext cx="4821590" cy="715044"/>
          </a:xfrm>
          <a:prstGeom prst="rect">
            <a:avLst/>
          </a:prstGeom>
        </p:spPr>
        <p:txBody>
          <a:bodyPr wrap="square" lIns="0" tIns="0" rIns="0" bIns="0" rtlCol="0" anchor="t">
            <a:spAutoFit/>
          </a:bodyPr>
          <a:lstStyle/>
          <a:p>
            <a:pPr algn="ctr">
              <a:lnSpc>
                <a:spcPts val="5961"/>
              </a:lnSpc>
              <a:spcBef>
                <a:spcPct val="0"/>
              </a:spcBef>
            </a:pPr>
            <a:r>
              <a:rPr lang="en-US" sz="4258" spc="-34" dirty="0">
                <a:solidFill>
                  <a:srgbClr val="FFFFFF"/>
                </a:solidFill>
                <a:latin typeface="IBM Plex Sans Condensed"/>
                <a:ea typeface="IBM Plex Sans Condensed"/>
                <a:cs typeface="IBM Plex Sans Condensed"/>
                <a:sym typeface="IBM Plex Sans Condensed"/>
              </a:rPr>
              <a:t>Automation System</a:t>
            </a:r>
          </a:p>
        </p:txBody>
      </p:sp>
      <p:sp>
        <p:nvSpPr>
          <p:cNvPr id="6" name="TextBox 5">
            <a:extLst>
              <a:ext uri="{FF2B5EF4-FFF2-40B4-BE49-F238E27FC236}">
                <a16:creationId xmlns:a16="http://schemas.microsoft.com/office/drawing/2014/main" id="{D7BDC3D4-092C-4A10-922C-83C89DA8E997}"/>
              </a:ext>
            </a:extLst>
          </p:cNvPr>
          <p:cNvSpPr txBox="1"/>
          <p:nvPr/>
        </p:nvSpPr>
        <p:spPr>
          <a:xfrm>
            <a:off x="2279746" y="2083693"/>
            <a:ext cx="14636654" cy="3785652"/>
          </a:xfrm>
          <a:prstGeom prst="rect">
            <a:avLst/>
          </a:prstGeom>
          <a:noFill/>
        </p:spPr>
        <p:txBody>
          <a:bodyPr wrap="square" rtlCol="0">
            <a:spAutoFit/>
          </a:bodyPr>
          <a:lstStyle/>
          <a:p>
            <a:pPr marL="571500" indent="-571500">
              <a:buFont typeface="Wingdings" panose="05000000000000000000" pitchFamily="2" charset="2"/>
              <a:buChar char="§"/>
            </a:pPr>
            <a:r>
              <a:rPr lang="en-US" sz="4000" dirty="0"/>
              <a:t>For wireless communication, we’re using NRF modules.</a:t>
            </a:r>
          </a:p>
          <a:p>
            <a:pPr marL="571500" indent="-571500">
              <a:buFont typeface="Wingdings" panose="05000000000000000000" pitchFamily="2" charset="2"/>
              <a:buChar char="§"/>
            </a:pPr>
            <a:r>
              <a:rPr lang="en-US" sz="4000" dirty="0"/>
              <a:t> One connects to the Raspberry Pi, and the other sends the data wirelessly. </a:t>
            </a:r>
          </a:p>
          <a:p>
            <a:pPr marL="571500" indent="-571500">
              <a:buFont typeface="Wingdings" panose="05000000000000000000" pitchFamily="2" charset="2"/>
              <a:buChar char="§"/>
            </a:pPr>
            <a:r>
              <a:rPr lang="en-US" sz="4000" dirty="0"/>
              <a:t>The same setup can be expanded to multiple greenhouses. A single Raspberry Pi can manage data from several NRF nodes, whether it’s one greenhouse or two and different nodes.</a:t>
            </a:r>
          </a:p>
        </p:txBody>
      </p:sp>
      <p:sp>
        <p:nvSpPr>
          <p:cNvPr id="7" name="TextBox 5">
            <a:extLst>
              <a:ext uri="{FF2B5EF4-FFF2-40B4-BE49-F238E27FC236}">
                <a16:creationId xmlns:a16="http://schemas.microsoft.com/office/drawing/2014/main" id="{80E21135-1D46-4AEB-870B-50356EDF3D2A}"/>
              </a:ext>
            </a:extLst>
          </p:cNvPr>
          <p:cNvSpPr txBox="1"/>
          <p:nvPr/>
        </p:nvSpPr>
        <p:spPr>
          <a:xfrm>
            <a:off x="15201339" y="9913183"/>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5/19</a:t>
            </a:r>
          </a:p>
        </p:txBody>
      </p:sp>
    </p:spTree>
    <p:extLst>
      <p:ext uri="{BB962C8B-B14F-4D97-AF65-F5344CB8AC3E}">
        <p14:creationId xmlns:p14="http://schemas.microsoft.com/office/powerpoint/2010/main" val="2990176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sp>
      </p:grpSp>
      <p:sp>
        <p:nvSpPr>
          <p:cNvPr id="4" name="TextBox 4"/>
          <p:cNvSpPr txBox="1"/>
          <p:nvPr/>
        </p:nvSpPr>
        <p:spPr>
          <a:xfrm>
            <a:off x="2601374" y="561928"/>
            <a:ext cx="7136063" cy="710913"/>
          </a:xfrm>
          <a:prstGeom prst="rect">
            <a:avLst/>
          </a:prstGeom>
        </p:spPr>
        <p:txBody>
          <a:bodyPr lIns="0" tIns="0" rIns="0" bIns="0" rtlCol="0" anchor="t">
            <a:spAutoFit/>
          </a:bodyPr>
          <a:lstStyle/>
          <a:p>
            <a:pPr algn="l">
              <a:lnSpc>
                <a:spcPts val="5981"/>
              </a:lnSpc>
            </a:pPr>
            <a:r>
              <a:rPr lang="en-US" sz="4272" spc="-34" dirty="0">
                <a:solidFill>
                  <a:srgbClr val="FFFFFF"/>
                </a:solidFill>
                <a:latin typeface="IBM Plex Sans Condensed"/>
                <a:ea typeface="IBM Plex Sans Condensed"/>
                <a:cs typeface="IBM Plex Sans Condensed"/>
                <a:sym typeface="IBM Plex Sans Condensed"/>
              </a:rPr>
              <a:t>Firebase Dashboard</a:t>
            </a:r>
          </a:p>
        </p:txBody>
      </p:sp>
      <p:sp>
        <p:nvSpPr>
          <p:cNvPr id="5" name="TextBox 5"/>
          <p:cNvSpPr txBox="1"/>
          <p:nvPr/>
        </p:nvSpPr>
        <p:spPr>
          <a:xfrm>
            <a:off x="15201340" y="9913182"/>
            <a:ext cx="571692" cy="299377"/>
          </a:xfrm>
          <a:prstGeom prst="rect">
            <a:avLst/>
          </a:prstGeom>
        </p:spPr>
        <p:txBody>
          <a:bodyPr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6/1</a:t>
            </a:r>
          </a:p>
        </p:txBody>
      </p:sp>
      <p:pic>
        <p:nvPicPr>
          <p:cNvPr id="8" name="Picture 7">
            <a:extLst>
              <a:ext uri="{FF2B5EF4-FFF2-40B4-BE49-F238E27FC236}">
                <a16:creationId xmlns:a16="http://schemas.microsoft.com/office/drawing/2014/main" id="{7C6BA658-5B29-43A4-8FFB-1F1E7378D4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1374" y="1834769"/>
            <a:ext cx="12953631" cy="6753224"/>
          </a:xfrm>
          <a:prstGeom prst="rect">
            <a:avLst/>
          </a:prstGeom>
        </p:spPr>
      </p:pic>
      <p:sp>
        <p:nvSpPr>
          <p:cNvPr id="9" name="TextBox 5">
            <a:extLst>
              <a:ext uri="{FF2B5EF4-FFF2-40B4-BE49-F238E27FC236}">
                <a16:creationId xmlns:a16="http://schemas.microsoft.com/office/drawing/2014/main" id="{BF59E187-E9F6-4C59-8D54-467A94B9EE04}"/>
              </a:ext>
            </a:extLst>
          </p:cNvPr>
          <p:cNvSpPr txBox="1"/>
          <p:nvPr/>
        </p:nvSpPr>
        <p:spPr>
          <a:xfrm>
            <a:off x="15201339" y="9913183"/>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6/19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sp>
      </p:grpSp>
      <p:sp>
        <p:nvSpPr>
          <p:cNvPr id="4" name="TextBox 4"/>
          <p:cNvSpPr txBox="1"/>
          <p:nvPr/>
        </p:nvSpPr>
        <p:spPr>
          <a:xfrm>
            <a:off x="2601374" y="561928"/>
            <a:ext cx="7136063" cy="710913"/>
          </a:xfrm>
          <a:prstGeom prst="rect">
            <a:avLst/>
          </a:prstGeom>
        </p:spPr>
        <p:txBody>
          <a:bodyPr lIns="0" tIns="0" rIns="0" bIns="0" rtlCol="0" anchor="t">
            <a:spAutoFit/>
          </a:bodyPr>
          <a:lstStyle/>
          <a:p>
            <a:pPr algn="l">
              <a:lnSpc>
                <a:spcPts val="5981"/>
              </a:lnSpc>
            </a:pPr>
            <a:r>
              <a:rPr lang="en-US" sz="4272" spc="-34" dirty="0">
                <a:solidFill>
                  <a:srgbClr val="FFFFFF"/>
                </a:solidFill>
                <a:latin typeface="IBM Plex Sans Condensed"/>
                <a:ea typeface="IBM Plex Sans Condensed"/>
                <a:cs typeface="IBM Plex Sans Condensed"/>
                <a:sym typeface="IBM Plex Sans Condensed"/>
              </a:rPr>
              <a:t>Firebase Dashboard</a:t>
            </a:r>
          </a:p>
        </p:txBody>
      </p:sp>
      <p:sp>
        <p:nvSpPr>
          <p:cNvPr id="5" name="TextBox 5"/>
          <p:cNvSpPr txBox="1"/>
          <p:nvPr/>
        </p:nvSpPr>
        <p:spPr>
          <a:xfrm>
            <a:off x="15201339" y="9913182"/>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7/19</a:t>
            </a:r>
          </a:p>
        </p:txBody>
      </p:sp>
      <p:sp>
        <p:nvSpPr>
          <p:cNvPr id="7" name="TextBox 6">
            <a:extLst>
              <a:ext uri="{FF2B5EF4-FFF2-40B4-BE49-F238E27FC236}">
                <a16:creationId xmlns:a16="http://schemas.microsoft.com/office/drawing/2014/main" id="{FD9C4AAF-4390-4711-A172-B91F086485BF}"/>
              </a:ext>
            </a:extLst>
          </p:cNvPr>
          <p:cNvSpPr txBox="1"/>
          <p:nvPr/>
        </p:nvSpPr>
        <p:spPr>
          <a:xfrm>
            <a:off x="2286139" y="1483665"/>
            <a:ext cx="14401662" cy="8094524"/>
          </a:xfrm>
          <a:prstGeom prst="rect">
            <a:avLst/>
          </a:prstGeom>
          <a:noFill/>
        </p:spPr>
        <p:txBody>
          <a:bodyPr wrap="square" rtlCol="0">
            <a:spAutoFit/>
          </a:bodyPr>
          <a:lstStyle/>
          <a:p>
            <a:r>
              <a:rPr lang="en-US" sz="4000" dirty="0"/>
              <a:t>A real-time cloud-based monitoring interface for the Smart Plant Monitoring System, likely using Firebase Studio.</a:t>
            </a:r>
          </a:p>
          <a:p>
            <a:r>
              <a:rPr lang="en-US" sz="4000" b="1" dirty="0"/>
              <a:t>Navigation</a:t>
            </a:r>
            <a:r>
              <a:rPr lang="en-US" sz="4000" dirty="0"/>
              <a:t>: The panel on the left provides quick access to the main sections: </a:t>
            </a:r>
            <a:r>
              <a:rPr lang="en-US" sz="4000" b="1" dirty="0"/>
              <a:t>Dashboard (Overview), Health, Alerts, Logs, and Controls (for manual intervention).</a:t>
            </a:r>
          </a:p>
          <a:p>
            <a:r>
              <a:rPr lang="en-US" sz="4000" b="1" dirty="0"/>
              <a:t>Real-Time Data (KPIs): </a:t>
            </a:r>
            <a:r>
              <a:rPr lang="en-US" sz="4000" dirty="0"/>
              <a:t>The dashboard displays the current, live environmental conditions:</a:t>
            </a:r>
          </a:p>
          <a:p>
            <a:r>
              <a:rPr lang="en-US" sz="4000" b="1" dirty="0"/>
              <a:t>Temperature</a:t>
            </a:r>
            <a:r>
              <a:rPr lang="en-US" sz="4000" dirty="0"/>
              <a:t>: 24.7°C</a:t>
            </a:r>
          </a:p>
          <a:p>
            <a:r>
              <a:rPr lang="en-US" sz="4000" b="1" dirty="0"/>
              <a:t>Humidity</a:t>
            </a:r>
            <a:r>
              <a:rPr lang="en-US" sz="4000" dirty="0"/>
              <a:t>: 67.4%</a:t>
            </a:r>
          </a:p>
          <a:p>
            <a:r>
              <a:rPr lang="en-US" sz="4000" b="1" dirty="0"/>
              <a:t>Soil</a:t>
            </a:r>
            <a:r>
              <a:rPr lang="en-US" sz="4000" dirty="0"/>
              <a:t> </a:t>
            </a:r>
            <a:r>
              <a:rPr lang="en-US" sz="4000" b="1" dirty="0"/>
              <a:t>Moisture</a:t>
            </a:r>
            <a:r>
              <a:rPr lang="en-US" sz="4000" dirty="0"/>
              <a:t>: 56.1%</a:t>
            </a:r>
          </a:p>
          <a:p>
            <a:r>
              <a:rPr lang="en-US" sz="4000" dirty="0"/>
              <a:t>Leaf Health Over Time: A key feature is the chart tracking the plant's calculated health index in real-time. This provides an aggregated score of the plant's well-being based on all sensor and model data.</a:t>
            </a:r>
          </a:p>
        </p:txBody>
      </p:sp>
    </p:spTree>
    <p:extLst>
      <p:ext uri="{BB962C8B-B14F-4D97-AF65-F5344CB8AC3E}">
        <p14:creationId xmlns:p14="http://schemas.microsoft.com/office/powerpoint/2010/main" val="799930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sp>
      </p:grpSp>
      <p:sp>
        <p:nvSpPr>
          <p:cNvPr id="4" name="TextBox 4"/>
          <p:cNvSpPr txBox="1"/>
          <p:nvPr/>
        </p:nvSpPr>
        <p:spPr>
          <a:xfrm>
            <a:off x="2601374" y="561928"/>
            <a:ext cx="7136063" cy="710913"/>
          </a:xfrm>
          <a:prstGeom prst="rect">
            <a:avLst/>
          </a:prstGeom>
        </p:spPr>
        <p:txBody>
          <a:bodyPr lIns="0" tIns="0" rIns="0" bIns="0" rtlCol="0" anchor="t">
            <a:spAutoFit/>
          </a:bodyPr>
          <a:lstStyle/>
          <a:p>
            <a:pPr algn="l">
              <a:lnSpc>
                <a:spcPts val="5981"/>
              </a:lnSpc>
            </a:pPr>
            <a:r>
              <a:rPr lang="en-US" sz="4272" spc="-34" dirty="0">
                <a:solidFill>
                  <a:srgbClr val="FFFFFF"/>
                </a:solidFill>
                <a:latin typeface="IBM Plex Sans Condensed"/>
                <a:ea typeface="IBM Plex Sans Condensed"/>
                <a:cs typeface="IBM Plex Sans Condensed"/>
                <a:sym typeface="IBM Plex Sans Condensed"/>
              </a:rPr>
              <a:t>Model Accuracy</a:t>
            </a:r>
          </a:p>
        </p:txBody>
      </p:sp>
      <p:pic>
        <p:nvPicPr>
          <p:cNvPr id="10" name="Picture 9">
            <a:extLst>
              <a:ext uri="{FF2B5EF4-FFF2-40B4-BE49-F238E27FC236}">
                <a16:creationId xmlns:a16="http://schemas.microsoft.com/office/drawing/2014/main" id="{76158A58-2F3E-4D1E-8E04-C70109B9F9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994" y="1834770"/>
            <a:ext cx="16904013" cy="6966330"/>
          </a:xfrm>
          <a:prstGeom prst="rect">
            <a:avLst/>
          </a:prstGeom>
        </p:spPr>
      </p:pic>
      <p:sp>
        <p:nvSpPr>
          <p:cNvPr id="13" name="TextBox 5">
            <a:extLst>
              <a:ext uri="{FF2B5EF4-FFF2-40B4-BE49-F238E27FC236}">
                <a16:creationId xmlns:a16="http://schemas.microsoft.com/office/drawing/2014/main" id="{98BD1252-C71F-449F-A720-033E2EA4EDB6}"/>
              </a:ext>
            </a:extLst>
          </p:cNvPr>
          <p:cNvSpPr txBox="1"/>
          <p:nvPr/>
        </p:nvSpPr>
        <p:spPr>
          <a:xfrm>
            <a:off x="15201339" y="9913183"/>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8/19</a:t>
            </a:r>
          </a:p>
        </p:txBody>
      </p:sp>
    </p:spTree>
    <p:extLst>
      <p:ext uri="{BB962C8B-B14F-4D97-AF65-F5344CB8AC3E}">
        <p14:creationId xmlns:p14="http://schemas.microsoft.com/office/powerpoint/2010/main" val="625634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sp>
      </p:grpSp>
      <p:sp>
        <p:nvSpPr>
          <p:cNvPr id="4" name="TextBox 4"/>
          <p:cNvSpPr txBox="1"/>
          <p:nvPr/>
        </p:nvSpPr>
        <p:spPr>
          <a:xfrm>
            <a:off x="2601374" y="561928"/>
            <a:ext cx="7136063" cy="710913"/>
          </a:xfrm>
          <a:prstGeom prst="rect">
            <a:avLst/>
          </a:prstGeom>
        </p:spPr>
        <p:txBody>
          <a:bodyPr lIns="0" tIns="0" rIns="0" bIns="0" rtlCol="0" anchor="t">
            <a:spAutoFit/>
          </a:bodyPr>
          <a:lstStyle/>
          <a:p>
            <a:pPr algn="l">
              <a:lnSpc>
                <a:spcPts val="5981"/>
              </a:lnSpc>
            </a:pPr>
            <a:r>
              <a:rPr lang="en-US" sz="4272" spc="-34" dirty="0">
                <a:solidFill>
                  <a:srgbClr val="FFFFFF"/>
                </a:solidFill>
                <a:latin typeface="IBM Plex Sans Condensed"/>
                <a:ea typeface="IBM Plex Sans Condensed"/>
                <a:cs typeface="IBM Plex Sans Condensed"/>
                <a:sym typeface="IBM Plex Sans Condensed"/>
              </a:rPr>
              <a:t>Module Accuracy</a:t>
            </a:r>
          </a:p>
        </p:txBody>
      </p:sp>
      <p:sp>
        <p:nvSpPr>
          <p:cNvPr id="6" name="TextBox 5">
            <a:extLst>
              <a:ext uri="{FF2B5EF4-FFF2-40B4-BE49-F238E27FC236}">
                <a16:creationId xmlns:a16="http://schemas.microsoft.com/office/drawing/2014/main" id="{C3B40A56-3C6D-435B-9732-20746297087D}"/>
              </a:ext>
            </a:extLst>
          </p:cNvPr>
          <p:cNvSpPr txBox="1"/>
          <p:nvPr/>
        </p:nvSpPr>
        <p:spPr>
          <a:xfrm>
            <a:off x="2279745" y="2045593"/>
            <a:ext cx="14941455" cy="4401205"/>
          </a:xfrm>
          <a:prstGeom prst="rect">
            <a:avLst/>
          </a:prstGeom>
          <a:noFill/>
        </p:spPr>
        <p:txBody>
          <a:bodyPr wrap="square" rtlCol="0">
            <a:spAutoFit/>
          </a:bodyPr>
          <a:lstStyle/>
          <a:p>
            <a:pPr marL="571500" indent="-571500">
              <a:buFont typeface="Wingdings" panose="05000000000000000000" pitchFamily="2" charset="2"/>
              <a:buChar char="§"/>
            </a:pPr>
            <a:r>
              <a:rPr lang="en-US" sz="4000" dirty="0"/>
              <a:t>The plots suggest that the model has been trained successfully. </a:t>
            </a:r>
          </a:p>
          <a:p>
            <a:pPr marL="571500" indent="-571500">
              <a:buFont typeface="Wingdings" panose="05000000000000000000" pitchFamily="2" charset="2"/>
              <a:buChar char="§"/>
            </a:pPr>
            <a:r>
              <a:rPr lang="en-US" sz="4000" dirty="0"/>
              <a:t>The accuracy stabilized around </a:t>
            </a:r>
            <a:r>
              <a:rPr lang="en-US" sz="4000" b="1" dirty="0"/>
              <a:t>74%</a:t>
            </a:r>
            <a:r>
              <a:rPr lang="en-US" sz="4000" dirty="0"/>
              <a:t>, and the loss minimized very quickly. </a:t>
            </a:r>
          </a:p>
          <a:p>
            <a:pPr marL="571500" indent="-571500">
              <a:buFont typeface="Wingdings" panose="05000000000000000000" pitchFamily="2" charset="2"/>
              <a:buChar char="§"/>
            </a:pPr>
            <a:r>
              <a:rPr lang="en-US" sz="4000" dirty="0"/>
              <a:t>There is no evidence of catastrophic overfitting, as the validation metrics closely mirror the training metrics. </a:t>
            </a:r>
          </a:p>
          <a:p>
            <a:pPr marL="571500" indent="-571500">
              <a:buFont typeface="Wingdings" panose="05000000000000000000" pitchFamily="2" charset="2"/>
              <a:buChar char="§"/>
            </a:pPr>
            <a:r>
              <a:rPr lang="en-US" sz="4000" dirty="0"/>
              <a:t>The model is well-trained for its current task (likely the control decisions for the pump, fan, and ventilation).</a:t>
            </a:r>
          </a:p>
        </p:txBody>
      </p:sp>
      <p:sp>
        <p:nvSpPr>
          <p:cNvPr id="7" name="TextBox 5">
            <a:extLst>
              <a:ext uri="{FF2B5EF4-FFF2-40B4-BE49-F238E27FC236}">
                <a16:creationId xmlns:a16="http://schemas.microsoft.com/office/drawing/2014/main" id="{08432A64-7B24-478D-869D-63336993DA2A}"/>
              </a:ext>
            </a:extLst>
          </p:cNvPr>
          <p:cNvSpPr txBox="1"/>
          <p:nvPr/>
        </p:nvSpPr>
        <p:spPr>
          <a:xfrm>
            <a:off x="15201339" y="9913183"/>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9/19</a:t>
            </a:r>
          </a:p>
        </p:txBody>
      </p:sp>
    </p:spTree>
    <p:extLst>
      <p:ext uri="{BB962C8B-B14F-4D97-AF65-F5344CB8AC3E}">
        <p14:creationId xmlns:p14="http://schemas.microsoft.com/office/powerpoint/2010/main" val="1536450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sp>
      </p:grpSp>
      <p:sp>
        <p:nvSpPr>
          <p:cNvPr id="4" name="TextBox 4"/>
          <p:cNvSpPr txBox="1"/>
          <p:nvPr/>
        </p:nvSpPr>
        <p:spPr>
          <a:xfrm>
            <a:off x="2601374" y="561928"/>
            <a:ext cx="7136063" cy="710913"/>
          </a:xfrm>
          <a:prstGeom prst="rect">
            <a:avLst/>
          </a:prstGeom>
        </p:spPr>
        <p:txBody>
          <a:bodyPr lIns="0" tIns="0" rIns="0" bIns="0" rtlCol="0" anchor="t">
            <a:spAutoFit/>
          </a:bodyPr>
          <a:lstStyle/>
          <a:p>
            <a:pPr algn="l">
              <a:lnSpc>
                <a:spcPts val="5981"/>
              </a:lnSpc>
            </a:pPr>
            <a:r>
              <a:rPr lang="en-US" sz="4272" spc="-34" dirty="0">
                <a:solidFill>
                  <a:srgbClr val="FFFFFF"/>
                </a:solidFill>
                <a:latin typeface="IBM Plex Sans Condensed"/>
                <a:ea typeface="IBM Plex Sans Condensed"/>
                <a:cs typeface="IBM Plex Sans Condensed"/>
                <a:sym typeface="IBM Plex Sans Condensed"/>
              </a:rPr>
              <a:t>Confusion Matrix</a:t>
            </a:r>
          </a:p>
        </p:txBody>
      </p:sp>
      <p:sp>
        <p:nvSpPr>
          <p:cNvPr id="5" name="TextBox 5"/>
          <p:cNvSpPr txBox="1"/>
          <p:nvPr/>
        </p:nvSpPr>
        <p:spPr>
          <a:xfrm>
            <a:off x="15201340" y="9913182"/>
            <a:ext cx="953060"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10/19</a:t>
            </a:r>
          </a:p>
        </p:txBody>
      </p:sp>
      <p:pic>
        <p:nvPicPr>
          <p:cNvPr id="7" name="Picture 6">
            <a:extLst>
              <a:ext uri="{FF2B5EF4-FFF2-40B4-BE49-F238E27FC236}">
                <a16:creationId xmlns:a16="http://schemas.microsoft.com/office/drawing/2014/main" id="{F64FC195-BFD3-42C3-93AD-59F7154F43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314" y="2247900"/>
            <a:ext cx="17649372" cy="5791200"/>
          </a:xfrm>
          <a:prstGeom prst="rect">
            <a:avLst/>
          </a:prstGeom>
        </p:spPr>
      </p:pic>
    </p:spTree>
    <p:extLst>
      <p:ext uri="{BB962C8B-B14F-4D97-AF65-F5344CB8AC3E}">
        <p14:creationId xmlns:p14="http://schemas.microsoft.com/office/powerpoint/2010/main" val="2155388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sp>
      </p:grpSp>
      <p:sp>
        <p:nvSpPr>
          <p:cNvPr id="4" name="TextBox 4"/>
          <p:cNvSpPr txBox="1"/>
          <p:nvPr/>
        </p:nvSpPr>
        <p:spPr>
          <a:xfrm>
            <a:off x="2601374" y="561928"/>
            <a:ext cx="7136063" cy="710913"/>
          </a:xfrm>
          <a:prstGeom prst="rect">
            <a:avLst/>
          </a:prstGeom>
        </p:spPr>
        <p:txBody>
          <a:bodyPr lIns="0" tIns="0" rIns="0" bIns="0" rtlCol="0" anchor="t">
            <a:spAutoFit/>
          </a:bodyPr>
          <a:lstStyle/>
          <a:p>
            <a:pPr algn="l">
              <a:lnSpc>
                <a:spcPts val="5981"/>
              </a:lnSpc>
            </a:pPr>
            <a:r>
              <a:rPr lang="en-US" sz="4272" spc="-34" dirty="0">
                <a:solidFill>
                  <a:srgbClr val="FFFFFF"/>
                </a:solidFill>
                <a:latin typeface="IBM Plex Sans Condensed"/>
                <a:ea typeface="IBM Plex Sans Condensed"/>
                <a:cs typeface="IBM Plex Sans Condensed"/>
                <a:sym typeface="IBM Plex Sans Condensed"/>
              </a:rPr>
              <a:t>Confusion Matrix</a:t>
            </a:r>
          </a:p>
        </p:txBody>
      </p:sp>
      <p:sp>
        <p:nvSpPr>
          <p:cNvPr id="6" name="TextBox 5">
            <a:extLst>
              <a:ext uri="{FF2B5EF4-FFF2-40B4-BE49-F238E27FC236}">
                <a16:creationId xmlns:a16="http://schemas.microsoft.com/office/drawing/2014/main" id="{5A6689C3-5BFF-4FD5-A43A-6D7F0EABCD09}"/>
              </a:ext>
            </a:extLst>
          </p:cNvPr>
          <p:cNvSpPr txBox="1"/>
          <p:nvPr/>
        </p:nvSpPr>
        <p:spPr>
          <a:xfrm>
            <a:off x="2279745" y="2045593"/>
            <a:ext cx="15624057" cy="3785652"/>
          </a:xfrm>
          <a:prstGeom prst="rect">
            <a:avLst/>
          </a:prstGeom>
          <a:noFill/>
        </p:spPr>
        <p:txBody>
          <a:bodyPr wrap="square" rtlCol="0">
            <a:spAutoFit/>
          </a:bodyPr>
          <a:lstStyle/>
          <a:p>
            <a:r>
              <a:rPr lang="en-US" sz="4000" dirty="0"/>
              <a:t>The Confusion Matrices demonstrate that the machine learning model achieved extremely high accuracy and low error rates for all three control systems (Pump, Fan, Ventilation). The high counts in the True Negative (TN) and True Positive (TP) cells, coupled with the near-zero counts in the False Positive (FP) and False Negative (FN) cells, indicate a highly reliable and effective control system.</a:t>
            </a:r>
          </a:p>
        </p:txBody>
      </p:sp>
      <p:sp>
        <p:nvSpPr>
          <p:cNvPr id="7" name="TextBox 5">
            <a:extLst>
              <a:ext uri="{FF2B5EF4-FFF2-40B4-BE49-F238E27FC236}">
                <a16:creationId xmlns:a16="http://schemas.microsoft.com/office/drawing/2014/main" id="{8A2FA0B7-3427-4DF6-8487-DC9E6023C1D9}"/>
              </a:ext>
            </a:extLst>
          </p:cNvPr>
          <p:cNvSpPr txBox="1"/>
          <p:nvPr/>
        </p:nvSpPr>
        <p:spPr>
          <a:xfrm>
            <a:off x="15201339" y="9913183"/>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11/19</a:t>
            </a:r>
          </a:p>
        </p:txBody>
      </p:sp>
    </p:spTree>
    <p:extLst>
      <p:ext uri="{BB962C8B-B14F-4D97-AF65-F5344CB8AC3E}">
        <p14:creationId xmlns:p14="http://schemas.microsoft.com/office/powerpoint/2010/main" val="3849842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sp>
      </p:grpSp>
      <p:sp>
        <p:nvSpPr>
          <p:cNvPr id="4" name="TextBox 4"/>
          <p:cNvSpPr txBox="1"/>
          <p:nvPr/>
        </p:nvSpPr>
        <p:spPr>
          <a:xfrm>
            <a:off x="2601374" y="561928"/>
            <a:ext cx="7136063" cy="710913"/>
          </a:xfrm>
          <a:prstGeom prst="rect">
            <a:avLst/>
          </a:prstGeom>
        </p:spPr>
        <p:txBody>
          <a:bodyPr lIns="0" tIns="0" rIns="0" bIns="0" rtlCol="0" anchor="t">
            <a:spAutoFit/>
          </a:bodyPr>
          <a:lstStyle/>
          <a:p>
            <a:pPr algn="l">
              <a:lnSpc>
                <a:spcPts val="5981"/>
              </a:lnSpc>
            </a:pPr>
            <a:r>
              <a:rPr lang="en-US" sz="4272" spc="-34" dirty="0">
                <a:solidFill>
                  <a:srgbClr val="FFFFFF"/>
                </a:solidFill>
                <a:latin typeface="IBM Plex Sans Condensed"/>
                <a:ea typeface="IBM Plex Sans Condensed"/>
                <a:cs typeface="IBM Plex Sans Condensed"/>
                <a:sym typeface="IBM Plex Sans Condensed"/>
              </a:rPr>
              <a:t>Accuracy</a:t>
            </a:r>
          </a:p>
        </p:txBody>
      </p:sp>
      <p:pic>
        <p:nvPicPr>
          <p:cNvPr id="7" name="Picture 6">
            <a:extLst>
              <a:ext uri="{FF2B5EF4-FFF2-40B4-BE49-F238E27FC236}">
                <a16:creationId xmlns:a16="http://schemas.microsoft.com/office/drawing/2014/main" id="{44A57C6F-6E21-4BE4-B6BD-A43F401DF7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1383" y="1822069"/>
            <a:ext cx="7465234" cy="7850835"/>
          </a:xfrm>
          <a:prstGeom prst="rect">
            <a:avLst/>
          </a:prstGeom>
        </p:spPr>
      </p:pic>
      <p:sp>
        <p:nvSpPr>
          <p:cNvPr id="9" name="TextBox 5">
            <a:extLst>
              <a:ext uri="{FF2B5EF4-FFF2-40B4-BE49-F238E27FC236}">
                <a16:creationId xmlns:a16="http://schemas.microsoft.com/office/drawing/2014/main" id="{12F7E9AC-E930-4B1F-A75E-A072EE1F3927}"/>
              </a:ext>
            </a:extLst>
          </p:cNvPr>
          <p:cNvSpPr txBox="1"/>
          <p:nvPr/>
        </p:nvSpPr>
        <p:spPr>
          <a:xfrm>
            <a:off x="15201339" y="9913183"/>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12/19</a:t>
            </a:r>
          </a:p>
        </p:txBody>
      </p:sp>
    </p:spTree>
    <p:extLst>
      <p:ext uri="{BB962C8B-B14F-4D97-AF65-F5344CB8AC3E}">
        <p14:creationId xmlns:p14="http://schemas.microsoft.com/office/powerpoint/2010/main" val="518238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sp>
      </p:grpSp>
      <p:sp>
        <p:nvSpPr>
          <p:cNvPr id="4" name="TextBox 4"/>
          <p:cNvSpPr txBox="1"/>
          <p:nvPr/>
        </p:nvSpPr>
        <p:spPr>
          <a:xfrm>
            <a:off x="2601374" y="561928"/>
            <a:ext cx="7136063" cy="710913"/>
          </a:xfrm>
          <a:prstGeom prst="rect">
            <a:avLst/>
          </a:prstGeom>
        </p:spPr>
        <p:txBody>
          <a:bodyPr lIns="0" tIns="0" rIns="0" bIns="0" rtlCol="0" anchor="t">
            <a:spAutoFit/>
          </a:bodyPr>
          <a:lstStyle/>
          <a:p>
            <a:pPr algn="l">
              <a:lnSpc>
                <a:spcPts val="5981"/>
              </a:lnSpc>
            </a:pPr>
            <a:r>
              <a:rPr lang="en-US" sz="4272" spc="-34" dirty="0">
                <a:solidFill>
                  <a:srgbClr val="FFFFFF"/>
                </a:solidFill>
                <a:latin typeface="IBM Plex Sans Condensed"/>
                <a:ea typeface="IBM Plex Sans Condensed"/>
                <a:cs typeface="IBM Plex Sans Condensed"/>
                <a:sym typeface="IBM Plex Sans Condensed"/>
              </a:rPr>
              <a:t>Accuracy</a:t>
            </a:r>
          </a:p>
        </p:txBody>
      </p:sp>
      <p:sp>
        <p:nvSpPr>
          <p:cNvPr id="6" name="TextBox 5">
            <a:extLst>
              <a:ext uri="{FF2B5EF4-FFF2-40B4-BE49-F238E27FC236}">
                <a16:creationId xmlns:a16="http://schemas.microsoft.com/office/drawing/2014/main" id="{8A80DB61-BA7B-4AD6-B7D4-B9A70F3FC07E}"/>
              </a:ext>
            </a:extLst>
          </p:cNvPr>
          <p:cNvSpPr txBox="1"/>
          <p:nvPr/>
        </p:nvSpPr>
        <p:spPr>
          <a:xfrm>
            <a:off x="2279745" y="2045593"/>
            <a:ext cx="15093855" cy="3785652"/>
          </a:xfrm>
          <a:prstGeom prst="rect">
            <a:avLst/>
          </a:prstGeom>
          <a:noFill/>
        </p:spPr>
        <p:txBody>
          <a:bodyPr wrap="square" rtlCol="0">
            <a:spAutoFit/>
          </a:bodyPr>
          <a:lstStyle/>
          <a:p>
            <a:r>
              <a:rPr lang="en-US" sz="4000" dirty="0"/>
              <a:t>The chart provides a clear, high-level metric for the model's reliability. An overall test accuracy of </a:t>
            </a:r>
            <a:r>
              <a:rPr lang="en-US" sz="4000" b="1" dirty="0"/>
              <a:t>74.6%</a:t>
            </a:r>
            <a:r>
              <a:rPr lang="en-US" sz="4000" dirty="0"/>
              <a:t> is a solid result for a real-world system, indicating that the model successfully generalizes the learned control logic to new, unseen environmental conditions most of the time. This confirms the model is a viable component for the intelligent control system.</a:t>
            </a:r>
          </a:p>
        </p:txBody>
      </p:sp>
      <p:sp>
        <p:nvSpPr>
          <p:cNvPr id="7" name="TextBox 5">
            <a:extLst>
              <a:ext uri="{FF2B5EF4-FFF2-40B4-BE49-F238E27FC236}">
                <a16:creationId xmlns:a16="http://schemas.microsoft.com/office/drawing/2014/main" id="{80CE3C6F-9C6B-4BDF-9A5C-BA3537F90EB1}"/>
              </a:ext>
            </a:extLst>
          </p:cNvPr>
          <p:cNvSpPr txBox="1"/>
          <p:nvPr/>
        </p:nvSpPr>
        <p:spPr>
          <a:xfrm>
            <a:off x="15201339" y="9913183"/>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13/19</a:t>
            </a:r>
          </a:p>
        </p:txBody>
      </p:sp>
    </p:spTree>
    <p:extLst>
      <p:ext uri="{BB962C8B-B14F-4D97-AF65-F5344CB8AC3E}">
        <p14:creationId xmlns:p14="http://schemas.microsoft.com/office/powerpoint/2010/main" val="1990218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076129"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txBody>
            <a:bodyPr/>
            <a:lstStyle/>
            <a:p>
              <a:endParaRPr lang="en-US" dirty="0"/>
            </a:p>
          </p:txBody>
        </p:sp>
      </p:grpSp>
      <p:sp>
        <p:nvSpPr>
          <p:cNvPr id="4" name="TextBox 4"/>
          <p:cNvSpPr txBox="1"/>
          <p:nvPr/>
        </p:nvSpPr>
        <p:spPr>
          <a:xfrm>
            <a:off x="2601374" y="561928"/>
            <a:ext cx="8828626" cy="716158"/>
          </a:xfrm>
          <a:prstGeom prst="rect">
            <a:avLst/>
          </a:prstGeom>
        </p:spPr>
        <p:txBody>
          <a:bodyPr wrap="square" lIns="0" tIns="0" rIns="0" bIns="0" rtlCol="0" anchor="t">
            <a:spAutoFit/>
          </a:bodyPr>
          <a:lstStyle/>
          <a:p>
            <a:pPr algn="l">
              <a:lnSpc>
                <a:spcPts val="5981"/>
              </a:lnSpc>
            </a:pPr>
            <a:r>
              <a:rPr lang="en-US" sz="4272" spc="-34" dirty="0">
                <a:solidFill>
                  <a:srgbClr val="FFFFFF"/>
                </a:solidFill>
                <a:latin typeface="IBM Plex Sans Condensed"/>
                <a:ea typeface="IBM Plex Sans Condensed"/>
                <a:cs typeface="IBM Plex Sans Condensed"/>
                <a:sym typeface="IBM Plex Sans Condensed"/>
              </a:rPr>
              <a:t>ROC Curve  and Precision-Recall curve</a:t>
            </a:r>
          </a:p>
        </p:txBody>
      </p:sp>
      <p:grpSp>
        <p:nvGrpSpPr>
          <p:cNvPr id="10" name="Group 9">
            <a:extLst>
              <a:ext uri="{FF2B5EF4-FFF2-40B4-BE49-F238E27FC236}">
                <a16:creationId xmlns:a16="http://schemas.microsoft.com/office/drawing/2014/main" id="{FFC42C75-88CF-4FCB-9CA5-624E110F8B72}"/>
              </a:ext>
            </a:extLst>
          </p:cNvPr>
          <p:cNvGrpSpPr/>
          <p:nvPr/>
        </p:nvGrpSpPr>
        <p:grpSpPr>
          <a:xfrm>
            <a:off x="947738" y="2171700"/>
            <a:ext cx="16392525" cy="5943600"/>
            <a:chOff x="457200" y="2171700"/>
            <a:chExt cx="16392525" cy="5943600"/>
          </a:xfrm>
        </p:grpSpPr>
        <p:pic>
          <p:nvPicPr>
            <p:cNvPr id="7" name="Picture 6">
              <a:extLst>
                <a:ext uri="{FF2B5EF4-FFF2-40B4-BE49-F238E27FC236}">
                  <a16:creationId xmlns:a16="http://schemas.microsoft.com/office/drawing/2014/main" id="{0FD98550-37F4-4A2C-B979-CF2C8954CE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171700"/>
              <a:ext cx="8162925" cy="5943600"/>
            </a:xfrm>
            <a:prstGeom prst="rect">
              <a:avLst/>
            </a:prstGeom>
          </p:spPr>
        </p:pic>
        <p:pic>
          <p:nvPicPr>
            <p:cNvPr id="9" name="Picture 8">
              <a:extLst>
                <a:ext uri="{FF2B5EF4-FFF2-40B4-BE49-F238E27FC236}">
                  <a16:creationId xmlns:a16="http://schemas.microsoft.com/office/drawing/2014/main" id="{687BC65E-96DF-4788-B9A0-35381E943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6800" y="2171700"/>
              <a:ext cx="8162925" cy="5943600"/>
            </a:xfrm>
            <a:prstGeom prst="rect">
              <a:avLst/>
            </a:prstGeom>
          </p:spPr>
        </p:pic>
      </p:grpSp>
      <p:sp>
        <p:nvSpPr>
          <p:cNvPr id="11" name="TextBox 5">
            <a:extLst>
              <a:ext uri="{FF2B5EF4-FFF2-40B4-BE49-F238E27FC236}">
                <a16:creationId xmlns:a16="http://schemas.microsoft.com/office/drawing/2014/main" id="{BEF83771-CDBD-49CA-9FBB-363E7994B0F4}"/>
              </a:ext>
            </a:extLst>
          </p:cNvPr>
          <p:cNvSpPr txBox="1"/>
          <p:nvPr/>
        </p:nvSpPr>
        <p:spPr>
          <a:xfrm>
            <a:off x="15201339" y="9913183"/>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14/19</a:t>
            </a:r>
          </a:p>
        </p:txBody>
      </p:sp>
    </p:spTree>
    <p:extLst>
      <p:ext uri="{BB962C8B-B14F-4D97-AF65-F5344CB8AC3E}">
        <p14:creationId xmlns:p14="http://schemas.microsoft.com/office/powerpoint/2010/main" val="117899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sp>
      </p:grpSp>
      <p:sp>
        <p:nvSpPr>
          <p:cNvPr id="4" name="TextBox 4"/>
          <p:cNvSpPr txBox="1"/>
          <p:nvPr/>
        </p:nvSpPr>
        <p:spPr>
          <a:xfrm>
            <a:off x="2601374" y="561928"/>
            <a:ext cx="10962226" cy="1485600"/>
          </a:xfrm>
          <a:prstGeom prst="rect">
            <a:avLst/>
          </a:prstGeom>
        </p:spPr>
        <p:txBody>
          <a:bodyPr wrap="square" lIns="0" tIns="0" rIns="0" bIns="0" rtlCol="0" anchor="t">
            <a:spAutoFit/>
          </a:bodyPr>
          <a:lstStyle/>
          <a:p>
            <a:pPr>
              <a:lnSpc>
                <a:spcPts val="5981"/>
              </a:lnSpc>
            </a:pPr>
            <a:r>
              <a:rPr lang="en-US" sz="4272" spc="-34" dirty="0">
                <a:solidFill>
                  <a:srgbClr val="FFFFFF"/>
                </a:solidFill>
                <a:latin typeface="IBM Plex Sans Condensed"/>
                <a:ea typeface="IBM Plex Sans Condensed"/>
                <a:cs typeface="IBM Plex Sans Condensed"/>
                <a:sym typeface="IBM Plex Sans Condensed"/>
              </a:rPr>
              <a:t>ROC Curve  and Precision-Recall curve</a:t>
            </a:r>
          </a:p>
          <a:p>
            <a:pPr algn="l">
              <a:lnSpc>
                <a:spcPts val="5981"/>
              </a:lnSpc>
            </a:pPr>
            <a:r>
              <a:rPr lang="en-US" sz="4272" spc="-34" dirty="0">
                <a:solidFill>
                  <a:srgbClr val="FFFFFF"/>
                </a:solidFill>
                <a:latin typeface="IBM Plex Sans Condensed"/>
                <a:ea typeface="IBM Plex Sans Condensed"/>
                <a:cs typeface="IBM Plex Sans Condensed"/>
                <a:sym typeface="IBM Plex Sans Condensed"/>
              </a:rPr>
              <a:t>Dashboard</a:t>
            </a:r>
          </a:p>
        </p:txBody>
      </p:sp>
      <p:sp>
        <p:nvSpPr>
          <p:cNvPr id="6" name="TextBox 5">
            <a:extLst>
              <a:ext uri="{FF2B5EF4-FFF2-40B4-BE49-F238E27FC236}">
                <a16:creationId xmlns:a16="http://schemas.microsoft.com/office/drawing/2014/main" id="{71607FF1-538F-4C26-9923-56AD3595CA7E}"/>
              </a:ext>
            </a:extLst>
          </p:cNvPr>
          <p:cNvSpPr txBox="1"/>
          <p:nvPr/>
        </p:nvSpPr>
        <p:spPr>
          <a:xfrm>
            <a:off x="2279745" y="2045593"/>
            <a:ext cx="15624057" cy="3170099"/>
          </a:xfrm>
          <a:prstGeom prst="rect">
            <a:avLst/>
          </a:prstGeom>
          <a:noFill/>
        </p:spPr>
        <p:txBody>
          <a:bodyPr wrap="square" rtlCol="0">
            <a:spAutoFit/>
          </a:bodyPr>
          <a:lstStyle/>
          <a:p>
            <a:r>
              <a:rPr lang="en-US" sz="4000" dirty="0"/>
              <a:t>Both plots confirm the extremely high, virtually perfect performance of your machine learning model in its current state. The AUC = 1.00 and Average Precision = 1.00 scores indicate that the model is making the correct control decisions (ON/OFF) based on the input sensor data with 100% accuracy on the test set.</a:t>
            </a:r>
          </a:p>
        </p:txBody>
      </p:sp>
      <p:sp>
        <p:nvSpPr>
          <p:cNvPr id="8" name="TextBox 5">
            <a:extLst>
              <a:ext uri="{FF2B5EF4-FFF2-40B4-BE49-F238E27FC236}">
                <a16:creationId xmlns:a16="http://schemas.microsoft.com/office/drawing/2014/main" id="{7DB157F3-BA23-4C92-9836-4C58CB1AA889}"/>
              </a:ext>
            </a:extLst>
          </p:cNvPr>
          <p:cNvSpPr txBox="1"/>
          <p:nvPr/>
        </p:nvSpPr>
        <p:spPr>
          <a:xfrm>
            <a:off x="15201339" y="9913183"/>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15/19</a:t>
            </a:r>
          </a:p>
        </p:txBody>
      </p:sp>
    </p:spTree>
    <p:extLst>
      <p:ext uri="{BB962C8B-B14F-4D97-AF65-F5344CB8AC3E}">
        <p14:creationId xmlns:p14="http://schemas.microsoft.com/office/powerpoint/2010/main" val="4236903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sp>
      </p:grpSp>
      <p:sp>
        <p:nvSpPr>
          <p:cNvPr id="4" name="TextBox 4"/>
          <p:cNvSpPr txBox="1"/>
          <p:nvPr/>
        </p:nvSpPr>
        <p:spPr>
          <a:xfrm>
            <a:off x="2601374" y="561928"/>
            <a:ext cx="10962226" cy="1485600"/>
          </a:xfrm>
          <a:prstGeom prst="rect">
            <a:avLst/>
          </a:prstGeom>
        </p:spPr>
        <p:txBody>
          <a:bodyPr wrap="square" lIns="0" tIns="0" rIns="0" bIns="0" rtlCol="0" anchor="t">
            <a:spAutoFit/>
          </a:bodyPr>
          <a:lstStyle/>
          <a:p>
            <a:pPr>
              <a:lnSpc>
                <a:spcPts val="5981"/>
              </a:lnSpc>
            </a:pPr>
            <a:r>
              <a:rPr lang="en-US" sz="4272" spc="-34" dirty="0">
                <a:solidFill>
                  <a:srgbClr val="FFFFFF"/>
                </a:solidFill>
                <a:latin typeface="IBM Plex Sans Condensed"/>
                <a:ea typeface="IBM Plex Sans Condensed"/>
                <a:cs typeface="IBM Plex Sans Condensed"/>
                <a:sym typeface="IBM Plex Sans Condensed"/>
              </a:rPr>
              <a:t>Real time image Classification on </a:t>
            </a:r>
            <a:r>
              <a:rPr lang="en-US" sz="4272" spc="-34" dirty="0" err="1">
                <a:solidFill>
                  <a:srgbClr val="FFFFFF"/>
                </a:solidFill>
                <a:latin typeface="IBM Plex Sans Condensed"/>
                <a:ea typeface="IBM Plex Sans Condensed"/>
                <a:cs typeface="IBM Plex Sans Condensed"/>
                <a:sym typeface="IBM Plex Sans Condensed"/>
              </a:rPr>
              <a:t>RaspberryPi</a:t>
            </a:r>
            <a:endParaRPr lang="en-US" sz="4272" spc="-34" dirty="0">
              <a:solidFill>
                <a:srgbClr val="FFFFFF"/>
              </a:solidFill>
              <a:latin typeface="IBM Plex Sans Condensed"/>
              <a:ea typeface="IBM Plex Sans Condensed"/>
              <a:cs typeface="IBM Plex Sans Condensed"/>
              <a:sym typeface="IBM Plex Sans Condensed"/>
            </a:endParaRPr>
          </a:p>
          <a:p>
            <a:pPr algn="l">
              <a:lnSpc>
                <a:spcPts val="5981"/>
              </a:lnSpc>
            </a:pPr>
            <a:r>
              <a:rPr lang="en-US" sz="4272" spc="-34" dirty="0">
                <a:solidFill>
                  <a:srgbClr val="FFFFFF"/>
                </a:solidFill>
                <a:latin typeface="IBM Plex Sans Condensed"/>
                <a:ea typeface="IBM Plex Sans Condensed"/>
                <a:cs typeface="IBM Plex Sans Condensed"/>
                <a:sym typeface="IBM Plex Sans Condensed"/>
              </a:rPr>
              <a:t>Dashboard</a:t>
            </a:r>
          </a:p>
        </p:txBody>
      </p:sp>
      <p:sp>
        <p:nvSpPr>
          <p:cNvPr id="8" name="TextBox 5">
            <a:extLst>
              <a:ext uri="{FF2B5EF4-FFF2-40B4-BE49-F238E27FC236}">
                <a16:creationId xmlns:a16="http://schemas.microsoft.com/office/drawing/2014/main" id="{7DB157F3-BA23-4C92-9836-4C58CB1AA889}"/>
              </a:ext>
            </a:extLst>
          </p:cNvPr>
          <p:cNvSpPr txBox="1"/>
          <p:nvPr/>
        </p:nvSpPr>
        <p:spPr>
          <a:xfrm>
            <a:off x="15201339" y="9913183"/>
            <a:ext cx="953062" cy="305746"/>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16/19</a:t>
            </a:r>
          </a:p>
        </p:txBody>
      </p:sp>
      <p:graphicFrame>
        <p:nvGraphicFramePr>
          <p:cNvPr id="5" name="Table 4">
            <a:extLst>
              <a:ext uri="{FF2B5EF4-FFF2-40B4-BE49-F238E27FC236}">
                <a16:creationId xmlns:a16="http://schemas.microsoft.com/office/drawing/2014/main" id="{7A76C3CA-87DB-AD99-510F-B780F19FEEB8}"/>
              </a:ext>
            </a:extLst>
          </p:cNvPr>
          <p:cNvGraphicFramePr>
            <a:graphicFrameLocks noGrp="1"/>
          </p:cNvGraphicFramePr>
          <p:nvPr>
            <p:extLst>
              <p:ext uri="{D42A27DB-BD31-4B8C-83A1-F6EECF244321}">
                <p14:modId xmlns:p14="http://schemas.microsoft.com/office/powerpoint/2010/main" val="4288855150"/>
              </p:ext>
            </p:extLst>
          </p:nvPr>
        </p:nvGraphicFramePr>
        <p:xfrm>
          <a:off x="2286000" y="2609456"/>
          <a:ext cx="13868401" cy="6483682"/>
        </p:xfrm>
        <a:graphic>
          <a:graphicData uri="http://schemas.openxmlformats.org/drawingml/2006/table">
            <a:tbl>
              <a:tblPr/>
              <a:tblGrid>
                <a:gridCol w="4618631">
                  <a:extLst>
                    <a:ext uri="{9D8B030D-6E8A-4147-A177-3AD203B41FA5}">
                      <a16:colId xmlns:a16="http://schemas.microsoft.com/office/drawing/2014/main" val="627830794"/>
                    </a:ext>
                  </a:extLst>
                </a:gridCol>
                <a:gridCol w="4624885">
                  <a:extLst>
                    <a:ext uri="{9D8B030D-6E8A-4147-A177-3AD203B41FA5}">
                      <a16:colId xmlns:a16="http://schemas.microsoft.com/office/drawing/2014/main" val="1086408547"/>
                    </a:ext>
                  </a:extLst>
                </a:gridCol>
                <a:gridCol w="4624885">
                  <a:extLst>
                    <a:ext uri="{9D8B030D-6E8A-4147-A177-3AD203B41FA5}">
                      <a16:colId xmlns:a16="http://schemas.microsoft.com/office/drawing/2014/main" val="878953253"/>
                    </a:ext>
                  </a:extLst>
                </a:gridCol>
              </a:tblGrid>
              <a:tr h="591370">
                <a:tc>
                  <a:txBody>
                    <a:bodyPr/>
                    <a:lstStyle/>
                    <a:p>
                      <a:pPr rtl="0">
                        <a:buNone/>
                      </a:pPr>
                      <a:r>
                        <a:rPr lang="en-US" sz="2400" b="1">
                          <a:solidFill>
                            <a:srgbClr val="1F1F1F"/>
                          </a:solidFill>
                          <a:effectLst/>
                          <a:latin typeface="Google Sans Text"/>
                        </a:rPr>
                        <a:t>Component</a:t>
                      </a:r>
                    </a:p>
                  </a:txBody>
                  <a:tcPr marL="76109" marR="76109" marT="50739" marB="5073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b="1">
                          <a:solidFill>
                            <a:srgbClr val="1F1F1F"/>
                          </a:solidFill>
                          <a:effectLst/>
                          <a:latin typeface="Google Sans Text"/>
                        </a:rPr>
                        <a:t>Library/Tool</a:t>
                      </a:r>
                    </a:p>
                  </a:txBody>
                  <a:tcPr marL="76109" marR="76109" marT="50739" marB="5073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b="1">
                          <a:solidFill>
                            <a:srgbClr val="1F1F1F"/>
                          </a:solidFill>
                          <a:effectLst/>
                          <a:latin typeface="Google Sans Text"/>
                        </a:rPr>
                        <a:t>Role in Real-Time Classification</a:t>
                      </a:r>
                    </a:p>
                  </a:txBody>
                  <a:tcPr marL="76109" marR="76109" marT="50739" marB="5073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03691728"/>
                  </a:ext>
                </a:extLst>
              </a:tr>
              <a:tr h="1054303">
                <a:tc>
                  <a:txBody>
                    <a:bodyPr/>
                    <a:lstStyle/>
                    <a:p>
                      <a:pPr rtl="0">
                        <a:buNone/>
                      </a:pPr>
                      <a:r>
                        <a:rPr lang="en-US" sz="2400" b="1">
                          <a:solidFill>
                            <a:srgbClr val="1F1F1F"/>
                          </a:solidFill>
                          <a:effectLst/>
                          <a:latin typeface="Google Sans Text"/>
                        </a:rPr>
                        <a:t>Edge Hardware</a:t>
                      </a:r>
                    </a:p>
                  </a:txBody>
                  <a:tcPr marL="76109" marR="76109" marT="50739" marB="5073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b="1">
                          <a:solidFill>
                            <a:srgbClr val="1F1F1F"/>
                          </a:solidFill>
                          <a:effectLst/>
                          <a:latin typeface="Google Sans Text"/>
                        </a:rPr>
                        <a:t>Raspberry Pi</a:t>
                      </a:r>
                    </a:p>
                  </a:txBody>
                  <a:tcPr marL="76109" marR="76109" marT="50739" marB="5073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b="1">
                          <a:solidFill>
                            <a:srgbClr val="1F1F1F"/>
                          </a:solidFill>
                          <a:effectLst/>
                          <a:latin typeface="Google Sans Text"/>
                        </a:rPr>
                        <a:t>The resource-constrained host, performing all processing on-device (Edge AI).</a:t>
                      </a:r>
                    </a:p>
                  </a:txBody>
                  <a:tcPr marL="76109" marR="76109" marT="50739" marB="5073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88983489"/>
                  </a:ext>
                </a:extLst>
              </a:tr>
              <a:tr h="1748701">
                <a:tc>
                  <a:txBody>
                    <a:bodyPr/>
                    <a:lstStyle/>
                    <a:p>
                      <a:pPr rtl="0">
                        <a:buNone/>
                      </a:pPr>
                      <a:r>
                        <a:rPr lang="en-US" sz="2400" b="1" dirty="0">
                          <a:solidFill>
                            <a:srgbClr val="1F1F1F"/>
                          </a:solidFill>
                          <a:effectLst/>
                          <a:latin typeface="Google Sans Text"/>
                        </a:rPr>
                        <a:t>Video Input</a:t>
                      </a:r>
                    </a:p>
                  </a:txBody>
                  <a:tcPr marL="76109" marR="76109" marT="50739" marB="5073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b="1">
                          <a:solidFill>
                            <a:srgbClr val="1F1F1F"/>
                          </a:solidFill>
                          <a:effectLst/>
                          <a:latin typeface="Google Sans Text"/>
                        </a:rPr>
                        <a:t>OpenCV (</a:t>
                      </a:r>
                      <a:r>
                        <a:rPr lang="en-US" sz="2400" b="1">
                          <a:solidFill>
                            <a:srgbClr val="444746"/>
                          </a:solidFill>
                          <a:effectLst/>
                          <a:latin typeface="Google Sans Text"/>
                        </a:rPr>
                        <a:t>cv2</a:t>
                      </a:r>
                      <a:r>
                        <a:rPr lang="en-US" sz="2400" b="1">
                          <a:solidFill>
                            <a:srgbClr val="1F1F1F"/>
                          </a:solidFill>
                          <a:effectLst/>
                          <a:latin typeface="Google Sans Text"/>
                        </a:rPr>
                        <a:t>)</a:t>
                      </a:r>
                    </a:p>
                  </a:txBody>
                  <a:tcPr marL="76109" marR="76109" marT="50739" marB="5073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b="1" dirty="0">
                          <a:solidFill>
                            <a:srgbClr val="1F1F1F"/>
                          </a:solidFill>
                          <a:effectLst/>
                          <a:latin typeface="Google Sans Text"/>
                        </a:rPr>
                        <a:t>Handles the real-time camera stream, performs pre-processing (e.g., resizing the captured frame to $224 \times 224$ pixels), and displays the results.</a:t>
                      </a:r>
                    </a:p>
                  </a:txBody>
                  <a:tcPr marL="76109" marR="76109" marT="50739" marB="5073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78517606"/>
                  </a:ext>
                </a:extLst>
              </a:tr>
              <a:tr h="1285768">
                <a:tc>
                  <a:txBody>
                    <a:bodyPr/>
                    <a:lstStyle/>
                    <a:p>
                      <a:pPr rtl="0">
                        <a:buNone/>
                      </a:pPr>
                      <a:r>
                        <a:rPr lang="en-US" sz="2400" b="1">
                          <a:solidFill>
                            <a:srgbClr val="1F1F1F"/>
                          </a:solidFill>
                          <a:effectLst/>
                          <a:latin typeface="Google Sans Text"/>
                        </a:rPr>
                        <a:t>Model Runtime</a:t>
                      </a:r>
                    </a:p>
                  </a:txBody>
                  <a:tcPr marL="76109" marR="76109" marT="50739" marB="5073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b="1">
                          <a:solidFill>
                            <a:srgbClr val="1F1F1F"/>
                          </a:solidFill>
                          <a:effectLst/>
                          <a:latin typeface="Google Sans Text"/>
                        </a:rPr>
                        <a:t>TensorFlow Lite (</a:t>
                      </a:r>
                      <a:r>
                        <a:rPr lang="en-US" sz="2400" b="1">
                          <a:solidFill>
                            <a:srgbClr val="444746"/>
                          </a:solidFill>
                          <a:effectLst/>
                          <a:latin typeface="Google Sans Text"/>
                        </a:rPr>
                        <a:t>tflite_runtime</a:t>
                      </a:r>
                      <a:r>
                        <a:rPr lang="en-US" sz="2400" b="1">
                          <a:solidFill>
                            <a:srgbClr val="1F1F1F"/>
                          </a:solidFill>
                          <a:effectLst/>
                          <a:latin typeface="Google Sans Text"/>
                        </a:rPr>
                        <a:t>)</a:t>
                      </a:r>
                    </a:p>
                  </a:txBody>
                  <a:tcPr marL="76109" marR="76109" marT="50739" marB="5073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b="1">
                          <a:solidFill>
                            <a:srgbClr val="1F1F1F"/>
                          </a:solidFill>
                          <a:effectLst/>
                          <a:latin typeface="Google Sans Text"/>
                        </a:rPr>
                        <a:t>The lightweight core library for executing the optimized machine learning model on the Pi's ARM CPU.</a:t>
                      </a:r>
                    </a:p>
                  </a:txBody>
                  <a:tcPr marL="76109" marR="76109" marT="50739" marB="5073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54907089"/>
                  </a:ext>
                </a:extLst>
              </a:tr>
              <a:tr h="1054303">
                <a:tc>
                  <a:txBody>
                    <a:bodyPr/>
                    <a:lstStyle/>
                    <a:p>
                      <a:pPr rtl="0">
                        <a:buNone/>
                      </a:pPr>
                      <a:r>
                        <a:rPr lang="en-US" sz="2400" b="1">
                          <a:solidFill>
                            <a:srgbClr val="1F1F1F"/>
                          </a:solidFill>
                          <a:effectLst/>
                          <a:latin typeface="Google Sans Text"/>
                        </a:rPr>
                        <a:t>Language</a:t>
                      </a:r>
                    </a:p>
                  </a:txBody>
                  <a:tcPr marL="76109" marR="76109" marT="50739" marB="5073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b="1">
                          <a:solidFill>
                            <a:srgbClr val="1F1F1F"/>
                          </a:solidFill>
                          <a:effectLst/>
                          <a:latin typeface="Google Sans Text"/>
                        </a:rPr>
                        <a:t>Python</a:t>
                      </a:r>
                    </a:p>
                  </a:txBody>
                  <a:tcPr marL="76109" marR="76109" marT="50739" marB="5073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b="1" dirty="0">
                          <a:solidFill>
                            <a:srgbClr val="1F1F1F"/>
                          </a:solidFill>
                          <a:effectLst/>
                          <a:latin typeface="Google Sans Text"/>
                        </a:rPr>
                        <a:t>The primary scripting environment tying the hardware, camera, and model runtime together.</a:t>
                      </a:r>
                    </a:p>
                  </a:txBody>
                  <a:tcPr marL="76109" marR="76109" marT="50739" marB="5073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90736341"/>
                  </a:ext>
                </a:extLst>
              </a:tr>
            </a:tbl>
          </a:graphicData>
        </a:graphic>
      </p:graphicFrame>
    </p:spTree>
    <p:extLst>
      <p:ext uri="{BB962C8B-B14F-4D97-AF65-F5344CB8AC3E}">
        <p14:creationId xmlns:p14="http://schemas.microsoft.com/office/powerpoint/2010/main" val="352141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sp>
      </p:grpSp>
      <p:sp>
        <p:nvSpPr>
          <p:cNvPr id="4" name="TextBox 4"/>
          <p:cNvSpPr txBox="1"/>
          <p:nvPr/>
        </p:nvSpPr>
        <p:spPr>
          <a:xfrm>
            <a:off x="2601374" y="561928"/>
            <a:ext cx="10962226" cy="1485600"/>
          </a:xfrm>
          <a:prstGeom prst="rect">
            <a:avLst/>
          </a:prstGeom>
        </p:spPr>
        <p:txBody>
          <a:bodyPr wrap="square" lIns="0" tIns="0" rIns="0" bIns="0" rtlCol="0" anchor="t">
            <a:spAutoFit/>
          </a:bodyPr>
          <a:lstStyle/>
          <a:p>
            <a:pPr>
              <a:lnSpc>
                <a:spcPts val="5981"/>
              </a:lnSpc>
            </a:pPr>
            <a:r>
              <a:rPr lang="en-US" sz="4272" spc="-34" dirty="0">
                <a:solidFill>
                  <a:srgbClr val="FFFFFF"/>
                </a:solidFill>
                <a:latin typeface="IBM Plex Sans Condensed"/>
                <a:ea typeface="IBM Plex Sans Condensed"/>
                <a:cs typeface="IBM Plex Sans Condensed"/>
                <a:sym typeface="IBM Plex Sans Condensed"/>
              </a:rPr>
              <a:t>Real time image Classification on </a:t>
            </a:r>
            <a:r>
              <a:rPr lang="en-US" sz="4272" spc="-34" dirty="0" err="1">
                <a:solidFill>
                  <a:srgbClr val="FFFFFF"/>
                </a:solidFill>
                <a:latin typeface="IBM Plex Sans Condensed"/>
                <a:ea typeface="IBM Plex Sans Condensed"/>
                <a:cs typeface="IBM Plex Sans Condensed"/>
                <a:sym typeface="IBM Plex Sans Condensed"/>
              </a:rPr>
              <a:t>RaspberryPi</a:t>
            </a:r>
            <a:endParaRPr lang="en-US" sz="4272" spc="-34" dirty="0">
              <a:solidFill>
                <a:srgbClr val="FFFFFF"/>
              </a:solidFill>
              <a:latin typeface="IBM Plex Sans Condensed"/>
              <a:ea typeface="IBM Plex Sans Condensed"/>
              <a:cs typeface="IBM Plex Sans Condensed"/>
              <a:sym typeface="IBM Plex Sans Condensed"/>
            </a:endParaRPr>
          </a:p>
          <a:p>
            <a:pPr algn="l">
              <a:lnSpc>
                <a:spcPts val="5981"/>
              </a:lnSpc>
            </a:pPr>
            <a:r>
              <a:rPr lang="en-US" sz="4272" spc="-34" dirty="0">
                <a:solidFill>
                  <a:srgbClr val="FFFFFF"/>
                </a:solidFill>
                <a:latin typeface="IBM Plex Sans Condensed"/>
                <a:ea typeface="IBM Plex Sans Condensed"/>
                <a:cs typeface="IBM Plex Sans Condensed"/>
                <a:sym typeface="IBM Plex Sans Condensed"/>
              </a:rPr>
              <a:t>Dashboard</a:t>
            </a:r>
          </a:p>
        </p:txBody>
      </p:sp>
      <p:sp>
        <p:nvSpPr>
          <p:cNvPr id="8" name="TextBox 5">
            <a:extLst>
              <a:ext uri="{FF2B5EF4-FFF2-40B4-BE49-F238E27FC236}">
                <a16:creationId xmlns:a16="http://schemas.microsoft.com/office/drawing/2014/main" id="{7DB157F3-BA23-4C92-9836-4C58CB1AA889}"/>
              </a:ext>
            </a:extLst>
          </p:cNvPr>
          <p:cNvSpPr txBox="1"/>
          <p:nvPr/>
        </p:nvSpPr>
        <p:spPr>
          <a:xfrm>
            <a:off x="15201339" y="9913183"/>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1/19</a:t>
            </a:r>
          </a:p>
        </p:txBody>
      </p:sp>
      <p:pic>
        <p:nvPicPr>
          <p:cNvPr id="7" name="Picture 6">
            <a:extLst>
              <a:ext uri="{FF2B5EF4-FFF2-40B4-BE49-F238E27FC236}">
                <a16:creationId xmlns:a16="http://schemas.microsoft.com/office/drawing/2014/main" id="{734AF4A0-A685-F3B2-728A-A7FC59F2579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12876" y="2781300"/>
            <a:ext cx="4648200" cy="5017393"/>
          </a:xfrm>
          <a:prstGeom prst="rect">
            <a:avLst/>
          </a:prstGeom>
        </p:spPr>
      </p:pic>
      <p:pic>
        <p:nvPicPr>
          <p:cNvPr id="10" name="Picture 9">
            <a:extLst>
              <a:ext uri="{FF2B5EF4-FFF2-40B4-BE49-F238E27FC236}">
                <a16:creationId xmlns:a16="http://schemas.microsoft.com/office/drawing/2014/main" id="{581462E0-E22F-2A70-ABA0-D1FDB96BED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63400" y="2786270"/>
            <a:ext cx="4343400" cy="5017394"/>
          </a:xfrm>
          <a:prstGeom prst="rect">
            <a:avLst/>
          </a:prstGeom>
        </p:spPr>
      </p:pic>
      <p:pic>
        <p:nvPicPr>
          <p:cNvPr id="12" name="Picture 11">
            <a:extLst>
              <a:ext uri="{FF2B5EF4-FFF2-40B4-BE49-F238E27FC236}">
                <a16:creationId xmlns:a16="http://schemas.microsoft.com/office/drawing/2014/main" id="{D360E0CC-EDE2-D312-B2FA-F20027DC540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76238" y="2781300"/>
            <a:ext cx="4572000" cy="5017393"/>
          </a:xfrm>
          <a:prstGeom prst="rect">
            <a:avLst/>
          </a:prstGeom>
        </p:spPr>
      </p:pic>
    </p:spTree>
    <p:extLst>
      <p:ext uri="{BB962C8B-B14F-4D97-AF65-F5344CB8AC3E}">
        <p14:creationId xmlns:p14="http://schemas.microsoft.com/office/powerpoint/2010/main" val="1672758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7F62C-A04C-3980-4F61-D9D4AF0F46C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EC6F309-76C0-C96C-6479-4FEFBCD27E95}"/>
              </a:ext>
            </a:extLst>
          </p:cNvPr>
          <p:cNvGrpSpPr>
            <a:grpSpLocks noChangeAspect="1"/>
          </p:cNvGrpSpPr>
          <p:nvPr/>
        </p:nvGrpSpPr>
        <p:grpSpPr>
          <a:xfrm>
            <a:off x="2279746" y="0"/>
            <a:ext cx="13722303" cy="1483477"/>
            <a:chOff x="0" y="0"/>
            <a:chExt cx="4608004" cy="498158"/>
          </a:xfrm>
        </p:grpSpPr>
        <p:sp>
          <p:nvSpPr>
            <p:cNvPr id="3" name="Freeform 3">
              <a:extLst>
                <a:ext uri="{FF2B5EF4-FFF2-40B4-BE49-F238E27FC236}">
                  <a16:creationId xmlns:a16="http://schemas.microsoft.com/office/drawing/2014/main" id="{51C38DE2-D591-F2A3-B7CB-EAC1CC9A8953}"/>
                </a:ext>
              </a:extLst>
            </p:cNvPr>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sp>
      </p:grpSp>
      <p:sp>
        <p:nvSpPr>
          <p:cNvPr id="4" name="TextBox 4">
            <a:extLst>
              <a:ext uri="{FF2B5EF4-FFF2-40B4-BE49-F238E27FC236}">
                <a16:creationId xmlns:a16="http://schemas.microsoft.com/office/drawing/2014/main" id="{B5575D22-D499-4991-4F35-C2A583B2E8A8}"/>
              </a:ext>
            </a:extLst>
          </p:cNvPr>
          <p:cNvSpPr txBox="1"/>
          <p:nvPr/>
        </p:nvSpPr>
        <p:spPr>
          <a:xfrm>
            <a:off x="2601374" y="561928"/>
            <a:ext cx="7136063" cy="710913"/>
          </a:xfrm>
          <a:prstGeom prst="rect">
            <a:avLst/>
          </a:prstGeom>
        </p:spPr>
        <p:txBody>
          <a:bodyPr lIns="0" tIns="0" rIns="0" bIns="0" rtlCol="0" anchor="t">
            <a:spAutoFit/>
          </a:bodyPr>
          <a:lstStyle/>
          <a:p>
            <a:pPr algn="l">
              <a:lnSpc>
                <a:spcPts val="5981"/>
              </a:lnSpc>
            </a:pPr>
            <a:r>
              <a:rPr lang="en-US" sz="4272" spc="-34" dirty="0">
                <a:solidFill>
                  <a:srgbClr val="FFFFFF"/>
                </a:solidFill>
                <a:latin typeface="IBM Plex Sans Condensed"/>
                <a:ea typeface="IBM Plex Sans Condensed"/>
                <a:cs typeface="IBM Plex Sans Condensed"/>
                <a:sym typeface="IBM Plex Sans Condensed"/>
              </a:rPr>
              <a:t>App Dashboard</a:t>
            </a:r>
          </a:p>
        </p:txBody>
      </p:sp>
      <p:sp>
        <p:nvSpPr>
          <p:cNvPr id="6" name="TextBox 5">
            <a:extLst>
              <a:ext uri="{FF2B5EF4-FFF2-40B4-BE49-F238E27FC236}">
                <a16:creationId xmlns:a16="http://schemas.microsoft.com/office/drawing/2014/main" id="{48B1EA05-4592-0A60-5818-3550B03327EC}"/>
              </a:ext>
            </a:extLst>
          </p:cNvPr>
          <p:cNvSpPr txBox="1"/>
          <p:nvPr/>
        </p:nvSpPr>
        <p:spPr>
          <a:xfrm>
            <a:off x="2279745" y="2045593"/>
            <a:ext cx="5797455" cy="8094524"/>
          </a:xfrm>
          <a:prstGeom prst="rect">
            <a:avLst/>
          </a:prstGeom>
          <a:noFill/>
        </p:spPr>
        <p:txBody>
          <a:bodyPr wrap="square" rtlCol="0">
            <a:spAutoFit/>
          </a:bodyPr>
          <a:lstStyle/>
          <a:p>
            <a:r>
              <a:rPr lang="en-US" sz="2400" b="1" dirty="0"/>
              <a:t>User Interface (UI) </a:t>
            </a:r>
          </a:p>
          <a:p>
            <a:r>
              <a:rPr lang="en-US" sz="2400" b="1" dirty="0"/>
              <a:t>Cross-Platform Interface (Flutter):</a:t>
            </a:r>
          </a:p>
          <a:p>
            <a:r>
              <a:rPr lang="en-US" sz="2400" b="1" dirty="0"/>
              <a:t>1)</a:t>
            </a:r>
            <a:r>
              <a:rPr lang="en-US" sz="2400" dirty="0"/>
              <a:t> The system uses </a:t>
            </a:r>
            <a:r>
              <a:rPr lang="en-US" sz="2400" b="1" dirty="0"/>
              <a:t>Flutter</a:t>
            </a:r>
            <a:r>
              <a:rPr lang="en-US" sz="2400" dirty="0"/>
              <a:t> to build a modern, intuitive </a:t>
            </a:r>
            <a:r>
              <a:rPr lang="en-US" sz="2400" b="1" dirty="0"/>
              <a:t>Smart Greenhouse</a:t>
            </a:r>
            <a:r>
              <a:rPr lang="en-US" sz="2400" dirty="0"/>
              <a:t> application. This allows the same codebase to run on both Android and iOS, providing wide accessibility for monitoring. </a:t>
            </a:r>
          </a:p>
          <a:p>
            <a:r>
              <a:rPr lang="en-US" sz="2400" dirty="0"/>
              <a:t>2) </a:t>
            </a:r>
            <a:r>
              <a:rPr lang="en-US" sz="2400" b="1" dirty="0"/>
              <a:t>Real-Time Data Visualization:</a:t>
            </a:r>
            <a:r>
              <a:rPr lang="en-US" sz="2400" dirty="0"/>
              <a:t> The mobile app displays key sensor metrics in real-time, including </a:t>
            </a:r>
            <a:r>
              <a:rPr lang="en-US" sz="2400" b="1" dirty="0"/>
              <a:t>Temperature</a:t>
            </a:r>
            <a:r>
              <a:rPr lang="en-US" sz="2400" dirty="0"/>
              <a:t>, </a:t>
            </a:r>
            <a:r>
              <a:rPr lang="en-US" sz="2400" b="1" dirty="0"/>
              <a:t>Humidity</a:t>
            </a:r>
            <a:r>
              <a:rPr lang="en-US" sz="2400" dirty="0"/>
              <a:t>, </a:t>
            </a:r>
            <a:r>
              <a:rPr lang="en-US" sz="2400" b="1" dirty="0"/>
              <a:t>Soil Moisture</a:t>
            </a:r>
            <a:r>
              <a:rPr lang="en-US" sz="2400" dirty="0"/>
              <a:t>, and </a:t>
            </a:r>
            <a:r>
              <a:rPr lang="en-US" sz="2400" b="1" dirty="0"/>
              <a:t>Fan Speed</a:t>
            </a:r>
            <a:r>
              <a:rPr lang="en-US" sz="2400" dirty="0"/>
              <a:t>. This gives the user immediate visibility into the greenhouse environment.</a:t>
            </a:r>
          </a:p>
          <a:p>
            <a:r>
              <a:rPr lang="en-US" sz="2400" b="1" dirty="0"/>
              <a:t>3) Remote Control and Automation:</a:t>
            </a:r>
            <a:r>
              <a:rPr lang="en-US" sz="2400" dirty="0"/>
              <a:t> The application includes toggle controls (switches) for activating components like the </a:t>
            </a:r>
            <a:r>
              <a:rPr lang="en-US" sz="2400" b="1" dirty="0"/>
              <a:t>Pump</a:t>
            </a:r>
            <a:r>
              <a:rPr lang="en-US" sz="2400" dirty="0"/>
              <a:t> and setting the system to </a:t>
            </a:r>
            <a:r>
              <a:rPr lang="en-US" sz="2400" b="1" dirty="0"/>
              <a:t>Auto Mode (Automatic Control)</a:t>
            </a:r>
            <a:r>
              <a:rPr lang="en-US" sz="2400" dirty="0"/>
              <a:t>, allowing users to remotely manage the greenhouse conditions.</a:t>
            </a:r>
          </a:p>
          <a:p>
            <a:endParaRPr lang="en-US" sz="4000" dirty="0"/>
          </a:p>
        </p:txBody>
      </p:sp>
      <p:sp>
        <p:nvSpPr>
          <p:cNvPr id="7" name="TextBox 5">
            <a:extLst>
              <a:ext uri="{FF2B5EF4-FFF2-40B4-BE49-F238E27FC236}">
                <a16:creationId xmlns:a16="http://schemas.microsoft.com/office/drawing/2014/main" id="{6AD93EDF-F528-9DF2-18A9-41DC1F2C9969}"/>
              </a:ext>
            </a:extLst>
          </p:cNvPr>
          <p:cNvSpPr txBox="1"/>
          <p:nvPr/>
        </p:nvSpPr>
        <p:spPr>
          <a:xfrm>
            <a:off x="15201339" y="9913183"/>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18/19</a:t>
            </a:r>
          </a:p>
        </p:txBody>
      </p:sp>
      <p:pic>
        <p:nvPicPr>
          <p:cNvPr id="8" name="Picture 7">
            <a:extLst>
              <a:ext uri="{FF2B5EF4-FFF2-40B4-BE49-F238E27FC236}">
                <a16:creationId xmlns:a16="http://schemas.microsoft.com/office/drawing/2014/main" id="{F76C206F-8E43-F1F7-5B70-E296C9E057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3400" y="2045593"/>
            <a:ext cx="9601200" cy="7384157"/>
          </a:xfrm>
          <a:prstGeom prst="rect">
            <a:avLst/>
          </a:prstGeom>
        </p:spPr>
      </p:pic>
    </p:spTree>
    <p:extLst>
      <p:ext uri="{BB962C8B-B14F-4D97-AF65-F5344CB8AC3E}">
        <p14:creationId xmlns:p14="http://schemas.microsoft.com/office/powerpoint/2010/main" val="329406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2279746" y="0"/>
            <a:ext cx="13722303" cy="1483477"/>
            <a:chOff x="0" y="0"/>
            <a:chExt cx="4608004" cy="498158"/>
          </a:xfrm>
        </p:grpSpPr>
        <p:sp>
          <p:nvSpPr>
            <p:cNvPr id="3" name="Freeform 3"/>
            <p:cNvSpPr/>
            <p:nvPr/>
          </p:nvSpPr>
          <p:spPr>
            <a:xfrm>
              <a:off x="0" y="0"/>
              <a:ext cx="4607941" cy="498221"/>
            </a:xfrm>
            <a:custGeom>
              <a:avLst/>
              <a:gdLst/>
              <a:ahLst/>
              <a:cxnLst/>
              <a:rect l="l" t="t" r="r" b="b"/>
              <a:pathLst>
                <a:path w="4607941" h="498221">
                  <a:moveTo>
                    <a:pt x="0" y="498221"/>
                  </a:moveTo>
                  <a:lnTo>
                    <a:pt x="4607941" y="498221"/>
                  </a:lnTo>
                  <a:lnTo>
                    <a:pt x="4607941" y="0"/>
                  </a:lnTo>
                  <a:lnTo>
                    <a:pt x="0" y="0"/>
                  </a:lnTo>
                  <a:close/>
                </a:path>
              </a:pathLst>
            </a:custGeom>
            <a:solidFill>
              <a:srgbClr val="0A192F"/>
            </a:solidFill>
          </p:spPr>
        </p:sp>
      </p:grpSp>
      <p:sp>
        <p:nvSpPr>
          <p:cNvPr id="4" name="TextBox 4"/>
          <p:cNvSpPr txBox="1"/>
          <p:nvPr/>
        </p:nvSpPr>
        <p:spPr>
          <a:xfrm>
            <a:off x="4020616" y="3415814"/>
            <a:ext cx="10240564" cy="3112472"/>
          </a:xfrm>
          <a:prstGeom prst="rect">
            <a:avLst/>
          </a:prstGeom>
        </p:spPr>
        <p:txBody>
          <a:bodyPr lIns="0" tIns="0" rIns="0" bIns="0" rtlCol="0" anchor="t">
            <a:spAutoFit/>
          </a:bodyPr>
          <a:lstStyle/>
          <a:p>
            <a:pPr algn="l">
              <a:lnSpc>
                <a:spcPts val="25575"/>
              </a:lnSpc>
            </a:pPr>
            <a:r>
              <a:rPr lang="en-US" sz="18268" b="1" spc="-146">
                <a:solidFill>
                  <a:srgbClr val="000000"/>
                </a:solidFill>
                <a:latin typeface="IBM Plex Sans Condensed Bold"/>
                <a:ea typeface="IBM Plex Sans Condensed Bold"/>
                <a:cs typeface="IBM Plex Sans Condensed Bold"/>
                <a:sym typeface="IBM Plex Sans Condensed Bold"/>
              </a:rPr>
              <a:t>Thank You</a:t>
            </a:r>
          </a:p>
        </p:txBody>
      </p:sp>
      <p:sp>
        <p:nvSpPr>
          <p:cNvPr id="5" name="TextBox 5"/>
          <p:cNvSpPr txBox="1"/>
          <p:nvPr/>
        </p:nvSpPr>
        <p:spPr>
          <a:xfrm>
            <a:off x="15081244" y="9913182"/>
            <a:ext cx="694199" cy="299377"/>
          </a:xfrm>
          <a:prstGeom prst="rect">
            <a:avLst/>
          </a:prstGeom>
        </p:spPr>
        <p:txBody>
          <a:bodyPr lIns="0" tIns="0" rIns="0" bIns="0" rtlCol="0" anchor="t">
            <a:spAutoFit/>
          </a:bodyPr>
          <a:lstStyle/>
          <a:p>
            <a:pPr algn="l">
              <a:lnSpc>
                <a:spcPts val="2492"/>
              </a:lnSpc>
            </a:pPr>
            <a:endParaRPr lang="en-US" sz="1780" spc="17" dirty="0">
              <a:solidFill>
                <a:srgbClr val="000000"/>
              </a:solidFill>
              <a:latin typeface="Open Sans"/>
              <a:ea typeface="Open Sans"/>
              <a:cs typeface="Open Sans"/>
              <a:sym typeface="Open Sans"/>
            </a:endParaRPr>
          </a:p>
        </p:txBody>
      </p:sp>
      <p:sp>
        <p:nvSpPr>
          <p:cNvPr id="6" name="TextBox 5">
            <a:extLst>
              <a:ext uri="{FF2B5EF4-FFF2-40B4-BE49-F238E27FC236}">
                <a16:creationId xmlns:a16="http://schemas.microsoft.com/office/drawing/2014/main" id="{C3EBED3A-40C6-4EE9-BF38-4CD0283062A2}"/>
              </a:ext>
            </a:extLst>
          </p:cNvPr>
          <p:cNvSpPr txBox="1"/>
          <p:nvPr/>
        </p:nvSpPr>
        <p:spPr>
          <a:xfrm>
            <a:off x="15201339" y="9913183"/>
            <a:ext cx="800521" cy="299377"/>
          </a:xfrm>
          <a:prstGeom prst="rect">
            <a:avLst/>
          </a:prstGeom>
        </p:spPr>
        <p:txBody>
          <a:bodyPr wrap="square" lIns="0" tIns="0" rIns="0" bIns="0" rtlCol="0" anchor="t">
            <a:spAutoFit/>
          </a:bodyPr>
          <a:lstStyle/>
          <a:p>
            <a:pPr algn="l">
              <a:lnSpc>
                <a:spcPts val="2492"/>
              </a:lnSpc>
            </a:pPr>
            <a:r>
              <a:rPr lang="en-US" sz="1780" spc="227" dirty="0">
                <a:solidFill>
                  <a:srgbClr val="000000"/>
                </a:solidFill>
                <a:latin typeface="Open Sans"/>
                <a:ea typeface="Open Sans"/>
                <a:cs typeface="Open Sans"/>
                <a:sym typeface="Open Sans"/>
              </a:rPr>
              <a:t>19/19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614</TotalTime>
  <Words>905</Words>
  <Application>Microsoft Office PowerPoint</Application>
  <PresentationFormat>Custom</PresentationFormat>
  <Paragraphs>90</Paragraphs>
  <Slides>19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IBM Plex Sans</vt:lpstr>
      <vt:lpstr>IBM Plex Sans Condensed Bold</vt:lpstr>
      <vt:lpstr>Open Sans</vt:lpstr>
      <vt:lpstr>Wingdings</vt:lpstr>
      <vt:lpstr>IBM Plex Sans Condensed</vt:lpstr>
      <vt:lpstr>Calibri</vt:lpstr>
      <vt:lpstr>Arial</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Musa Khan</dc:title>
  <cp:lastModifiedBy>Muhammad Maaz</cp:lastModifiedBy>
  <cp:revision>17</cp:revision>
  <dcterms:created xsi:type="dcterms:W3CDTF">2006-08-16T00:00:00Z</dcterms:created>
  <dcterms:modified xsi:type="dcterms:W3CDTF">2025-12-01T09:53:15Z</dcterms:modified>
  <dc:identifier>DAG49mkDBUw</dc:identifier>
</cp:coreProperties>
</file>