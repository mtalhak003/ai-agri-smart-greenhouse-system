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IBM Plex Sans" panose="020B0503050203000203" pitchFamily="34" charset="0"/>
      <p:regular r:id="rId26"/>
      <p:bold r:id="rId27"/>
      <p:italic r:id="rId28"/>
      <p:boldItalic r:id="rId29"/>
    </p:embeddedFont>
    <p:embeddedFont>
      <p:font typeface="IBM Plex Sans Condensed" panose="020B0506050203000203" pitchFamily="3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2174E9-2FB8-41E7-A886-9FE34B1A6600}">
  <a:tblStyle styleId="{302174E9-2FB8-41E7-A886-9FE34B1A66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1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ff5bcb9f7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aff5bcb9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f5bcb9f7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aff5bcb9f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f5bcb9f7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ff5bcb9f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f5bcb9f7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aff5bcb9f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f5bcb9f7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aff5bcb9f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ff5bcb9f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ff5bcb9f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ff5bcb9f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ff5bcb9f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ff5bcb9f7_0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aff5bcb9f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ff5bcb9f7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aff5bcb9f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ff5bcb9f7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aff5bcb9f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ff5bcb9f7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aff5bcb9f7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ff5bcb9f7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aff5bcb9f7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ff5bcb9f7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aff5bcb9f7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ff5bcb9f7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aff5bcb9f7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ff5bcb9f7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aff5bcb9f7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411839" y="428818"/>
            <a:ext cx="1939923" cy="1929711"/>
          </a:xfrm>
          <a:custGeom>
            <a:avLst/>
            <a:gdLst/>
            <a:ahLst/>
            <a:cxnLst/>
            <a:rect l="l" t="t" r="r" b="b"/>
            <a:pathLst>
              <a:path w="1939923" h="1929711" extrusionOk="0">
                <a:moveTo>
                  <a:pt x="0" y="0"/>
                </a:moveTo>
                <a:lnTo>
                  <a:pt x="1939923" y="0"/>
                </a:lnTo>
                <a:lnTo>
                  <a:pt x="1939923" y="1929712"/>
                </a:lnTo>
                <a:lnTo>
                  <a:pt x="0" y="1929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89" name="Google Shape;89;p13"/>
          <p:cNvSpPr txBox="1"/>
          <p:nvPr/>
        </p:nvSpPr>
        <p:spPr>
          <a:xfrm>
            <a:off x="3272258" y="3263787"/>
            <a:ext cx="11972311" cy="1943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AIoT-Based Smart Climate-Aware Greenhouse System for Sustainable Agriculture</a:t>
            </a:r>
            <a:endParaRPr sz="4272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3150949" y="2781299"/>
            <a:ext cx="11972310" cy="2962087"/>
            <a:chOff x="0" y="-19050"/>
            <a:chExt cx="3249051" cy="861006"/>
          </a:xfrm>
        </p:grpSpPr>
        <p:sp>
          <p:nvSpPr>
            <p:cNvPr id="91" name="Google Shape;91;p13"/>
            <p:cNvSpPr/>
            <p:nvPr/>
          </p:nvSpPr>
          <p:spPr>
            <a:xfrm>
              <a:off x="31950" y="29156"/>
              <a:ext cx="3217101" cy="812800"/>
            </a:xfrm>
            <a:custGeom>
              <a:avLst/>
              <a:gdLst/>
              <a:ahLst/>
              <a:cxnLst/>
              <a:rect l="l" t="t" r="r" b="b"/>
              <a:pathLst>
                <a:path w="3217101" h="812800" extrusionOk="0">
                  <a:moveTo>
                    <a:pt x="32086" y="0"/>
                  </a:moveTo>
                  <a:lnTo>
                    <a:pt x="3185014" y="0"/>
                  </a:lnTo>
                  <a:cubicBezTo>
                    <a:pt x="3193524" y="0"/>
                    <a:pt x="3201685" y="3381"/>
                    <a:pt x="3207703" y="9398"/>
                  </a:cubicBezTo>
                  <a:cubicBezTo>
                    <a:pt x="3213720" y="15415"/>
                    <a:pt x="3217101" y="23577"/>
                    <a:pt x="3217101" y="32086"/>
                  </a:cubicBezTo>
                  <a:lnTo>
                    <a:pt x="3217101" y="780714"/>
                  </a:lnTo>
                  <a:cubicBezTo>
                    <a:pt x="3217101" y="789223"/>
                    <a:pt x="3213720" y="797385"/>
                    <a:pt x="3207703" y="803402"/>
                  </a:cubicBezTo>
                  <a:cubicBezTo>
                    <a:pt x="3201685" y="809419"/>
                    <a:pt x="3193524" y="812800"/>
                    <a:pt x="3185014" y="812800"/>
                  </a:cubicBezTo>
                  <a:lnTo>
                    <a:pt x="32086" y="812800"/>
                  </a:lnTo>
                  <a:cubicBezTo>
                    <a:pt x="23577" y="812800"/>
                    <a:pt x="15415" y="809419"/>
                    <a:pt x="9398" y="803402"/>
                  </a:cubicBezTo>
                  <a:cubicBezTo>
                    <a:pt x="3381" y="797385"/>
                    <a:pt x="0" y="789223"/>
                    <a:pt x="0" y="780714"/>
                  </a:cubicBezTo>
                  <a:lnTo>
                    <a:pt x="0" y="32086"/>
                  </a:lnTo>
                  <a:cubicBezTo>
                    <a:pt x="0" y="23577"/>
                    <a:pt x="3381" y="15415"/>
                    <a:pt x="9398" y="9398"/>
                  </a:cubicBezTo>
                  <a:cubicBezTo>
                    <a:pt x="15415" y="3381"/>
                    <a:pt x="23577" y="0"/>
                    <a:pt x="320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3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-19050"/>
              <a:ext cx="3217101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8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>
            <a:off x="2391364" y="6994049"/>
            <a:ext cx="13505403" cy="701859"/>
            <a:chOff x="3792127" y="6994049"/>
            <a:chExt cx="13505403" cy="701859"/>
          </a:xfrm>
        </p:grpSpPr>
        <p:sp>
          <p:nvSpPr>
            <p:cNvPr id="94" name="Google Shape;94;p13"/>
            <p:cNvSpPr txBox="1"/>
            <p:nvPr/>
          </p:nvSpPr>
          <p:spPr>
            <a:xfrm>
              <a:off x="3792127" y="6994049"/>
              <a:ext cx="3867358" cy="7018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6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4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Muhammad Maaz </a:t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7828911" y="6994049"/>
              <a:ext cx="4690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6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4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Muhammad </a:t>
              </a:r>
              <a:r>
                <a:rPr lang="en-US" sz="3248">
                  <a:latin typeface="IBM Plex Sans"/>
                  <a:ea typeface="IBM Plex Sans"/>
                  <a:cs typeface="IBM Plex Sans"/>
                  <a:sym typeface="IBM Plex Sans"/>
                </a:rPr>
                <a:t>Talha</a:t>
              </a:r>
              <a:r>
                <a:rPr lang="en-US" sz="324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Khan</a:t>
              </a:r>
              <a:endParaRPr/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12606730" y="6994049"/>
              <a:ext cx="4690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6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4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Muhammad </a:t>
              </a:r>
              <a:r>
                <a:rPr lang="en-US" sz="3248">
                  <a:latin typeface="IBM Plex Sans"/>
                  <a:ea typeface="IBM Plex Sans"/>
                  <a:cs typeface="IBM Plex Sans"/>
                  <a:sym typeface="IBM Plex Sans"/>
                </a:rPr>
                <a:t>Ibad</a:t>
              </a:r>
              <a:r>
                <a:rPr lang="en-US" sz="324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Khan</a:t>
              </a:r>
              <a:endParaRPr/>
            </a:p>
          </p:txBody>
        </p:sp>
      </p:grpSp>
      <p:sp>
        <p:nvSpPr>
          <p:cNvPr id="97" name="Google Shape;97;p13"/>
          <p:cNvSpPr txBox="1"/>
          <p:nvPr/>
        </p:nvSpPr>
        <p:spPr>
          <a:xfrm>
            <a:off x="5815158" y="8786118"/>
            <a:ext cx="7596042" cy="48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1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Computer Systems Engineering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815158" y="9323035"/>
            <a:ext cx="7215042" cy="48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1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University of Engineering &amp; Technology Peshawar</a:t>
            </a:r>
            <a:endParaRPr/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1800" y="483148"/>
            <a:ext cx="1927782" cy="16810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59D47-3F90-DF14-0FD9-0D50045A51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0182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2166371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584950" y="347375"/>
            <a:ext cx="114969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Problem: The Inconsistency of Traditional Agriculture</a:t>
            </a:r>
            <a:endParaRPr sz="1635"/>
          </a:p>
        </p:txBody>
      </p:sp>
      <p:sp>
        <p:nvSpPr>
          <p:cNvPr id="108" name="Google Shape;108;p14"/>
          <p:cNvSpPr txBox="1"/>
          <p:nvPr/>
        </p:nvSpPr>
        <p:spPr>
          <a:xfrm>
            <a:off x="2279746" y="2083693"/>
            <a:ext cx="13493400" cy="6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Inconsistency and Delay:</a:t>
            </a:r>
            <a:r>
              <a:rPr lang="en-US" sz="3700" dirty="0">
                <a:solidFill>
                  <a:schemeClr val="dk1"/>
                </a:solidFill>
              </a:rPr>
              <a:t> Traditional plant care suffers from inconsistency and delayed intervention, often leading to crop loss or suboptimal yields.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Lack of Precision:</a:t>
            </a:r>
            <a:r>
              <a:rPr lang="en-US" sz="3700" dirty="0">
                <a:solidFill>
                  <a:schemeClr val="dk1"/>
                </a:solidFill>
              </a:rPr>
              <a:t> Environmental factors require constant, precise management that is difficult to achieve manually.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Reactive Intervention:</a:t>
            </a:r>
            <a:r>
              <a:rPr lang="en-US" sz="3700" dirty="0">
                <a:solidFill>
                  <a:schemeClr val="dk1"/>
                </a:solidFill>
              </a:rPr>
              <a:t> Disease detection is often reactive, occurring only after visible symptoms have caused significant damage, limiting medicinal or high-value crop viability.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Resource Inefficiency:</a:t>
            </a:r>
            <a:r>
              <a:rPr lang="en-US" sz="3700" dirty="0">
                <a:solidFill>
                  <a:schemeClr val="dk1"/>
                </a:solidFill>
              </a:rPr>
              <a:t> Irrigation and climate control are often managed inefficiently, wasting water and energy.</a:t>
            </a:r>
            <a:endParaRPr sz="37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A6B96-361D-0761-1BB7-8C79BAF821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2283921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601374" y="561928"/>
            <a:ext cx="29613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OBJECTIVES</a:t>
            </a:r>
            <a:endParaRPr sz="1000"/>
          </a:p>
        </p:txBody>
      </p:sp>
      <p:sp>
        <p:nvSpPr>
          <p:cNvPr id="116" name="Google Shape;116;p15"/>
          <p:cNvSpPr txBox="1"/>
          <p:nvPr/>
        </p:nvSpPr>
        <p:spPr>
          <a:xfrm>
            <a:off x="2283925" y="1644650"/>
            <a:ext cx="13493400" cy="80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lang="en-US" sz="3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Development: Build a robust Internet of Things (IoT) hardware platform for real-time environmental sensing and automated device control (pumps, fans).</a:t>
            </a:r>
            <a:endParaRPr sz="3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lang="en-US" sz="3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Intelligent Control: Train a Machine Learning (ML) model to intelligently dictate automated control actions based on sensed data.</a:t>
            </a:r>
            <a:endParaRPr sz="3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lang="en-US" sz="3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Disease Detection: Implement real-time leaf image classification for early detection and alerting of plant diseases.</a:t>
            </a:r>
            <a:endParaRPr sz="3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lang="en-US" sz="3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Adaptability: Develop a system capable of storing seasonal data and using it to configure optimal growing parameters for medicinal and specialty plants in diverse global regions.</a:t>
            </a:r>
            <a:endParaRPr sz="3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●"/>
            </a:pPr>
            <a:r>
              <a:rPr lang="en-US" sz="3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Interface: Provide a comprehensive, cross-platform mobile application and web dashboard for remote monitoring, analysis, and control.</a:t>
            </a:r>
            <a:endParaRPr sz="3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74DCA6-D513-8015-43B9-529BC7DEEB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2283921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601375" y="258550"/>
            <a:ext cx="9689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Literature </a:t>
            </a: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Review / Background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283921" y="1919343"/>
            <a:ext cx="13493400" cy="8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Project Focus:</a:t>
            </a:r>
            <a:r>
              <a:rPr lang="en-US" sz="3700" dirty="0">
                <a:solidFill>
                  <a:schemeClr val="dk1"/>
                </a:solidFill>
              </a:rPr>
              <a:t> AIoT-Based Smart Climate-Aware Greenhouse System for Sustainable Agriculture.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Technology Stack:</a:t>
            </a:r>
            <a:r>
              <a:rPr lang="en-US" sz="3700" dirty="0">
                <a:solidFill>
                  <a:schemeClr val="dk1"/>
                </a:solidFill>
              </a:rPr>
              <a:t> The project utilizes the </a:t>
            </a:r>
            <a:r>
              <a:rPr lang="en-US" sz="3700" b="1" dirty="0">
                <a:solidFill>
                  <a:schemeClr val="dk1"/>
                </a:solidFill>
              </a:rPr>
              <a:t>Artificial Intelligence of Things (AIoT)</a:t>
            </a:r>
            <a:r>
              <a:rPr lang="en-US" sz="3700" dirty="0">
                <a:solidFill>
                  <a:schemeClr val="dk1"/>
                </a:solidFill>
              </a:rPr>
              <a:t> framework, combining IoT sensing with Edge AI processing.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Core Principle:</a:t>
            </a:r>
            <a:r>
              <a:rPr lang="en-US" sz="3700" dirty="0">
                <a:solidFill>
                  <a:schemeClr val="dk1"/>
                </a:solidFill>
              </a:rPr>
              <a:t> Addressing the need for precise environmental control through </a:t>
            </a:r>
            <a:r>
              <a:rPr lang="en-US" sz="3700" b="1" dirty="0">
                <a:solidFill>
                  <a:schemeClr val="dk1"/>
                </a:solidFill>
              </a:rPr>
              <a:t>automation</a:t>
            </a:r>
            <a:r>
              <a:rPr lang="en-US" sz="3700" dirty="0">
                <a:solidFill>
                  <a:schemeClr val="dk1"/>
                </a:solidFill>
              </a:rPr>
              <a:t> and </a:t>
            </a:r>
            <a:r>
              <a:rPr lang="en-US" sz="3700" b="1" dirty="0">
                <a:solidFill>
                  <a:schemeClr val="dk1"/>
                </a:solidFill>
              </a:rPr>
              <a:t>data-driven decision-making</a:t>
            </a:r>
            <a:r>
              <a:rPr lang="en-US" sz="3700" dirty="0">
                <a:solidFill>
                  <a:schemeClr val="dk1"/>
                </a:solidFill>
              </a:rPr>
              <a:t>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System Foundation:</a:t>
            </a:r>
            <a:r>
              <a:rPr lang="en-US" sz="3700" dirty="0">
                <a:solidFill>
                  <a:schemeClr val="dk1"/>
                </a:solidFill>
              </a:rPr>
              <a:t> Building an IoT hardware platform for sensing and control.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Scalability:</a:t>
            </a:r>
            <a:r>
              <a:rPr lang="en-US" sz="3700" dirty="0">
                <a:solidFill>
                  <a:schemeClr val="dk1"/>
                </a:solidFill>
              </a:rPr>
              <a:t> Designed to be easily expanded to </a:t>
            </a:r>
            <a:r>
              <a:rPr lang="en-US" sz="3700" b="1" dirty="0">
                <a:solidFill>
                  <a:schemeClr val="dk1"/>
                </a:solidFill>
              </a:rPr>
              <a:t>multiple greenhouses</a:t>
            </a:r>
            <a:r>
              <a:rPr lang="en-US" sz="3700" dirty="0">
                <a:solidFill>
                  <a:schemeClr val="dk1"/>
                </a:solidFill>
              </a:rPr>
              <a:t> with a single central hub (Raspberry Pi).</a:t>
            </a:r>
            <a:endParaRPr sz="37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7492B-ADD7-53E2-2C43-16999D6A50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2601378" y="561925"/>
            <a:ext cx="11382000" cy="1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Methodology: Automated Sensing and Intelligent Actuation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279750" y="2083700"/>
            <a:ext cx="13493400" cy="7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Sensing:</a:t>
            </a:r>
            <a:r>
              <a:rPr lang="en-US" sz="3600" dirty="0">
                <a:solidFill>
                  <a:schemeClr val="dk1"/>
                </a:solidFill>
              </a:rPr>
              <a:t> Uses a </a:t>
            </a:r>
            <a:r>
              <a:rPr lang="en-US" sz="3600" b="1" dirty="0">
                <a:solidFill>
                  <a:schemeClr val="dk1"/>
                </a:solidFill>
              </a:rPr>
              <a:t>soil moisture sensor</a:t>
            </a:r>
            <a:r>
              <a:rPr lang="en-US" sz="3600" dirty="0">
                <a:solidFill>
                  <a:schemeClr val="dk1"/>
                </a:solidFill>
              </a:rPr>
              <a:t> to check moisture level and a </a:t>
            </a:r>
            <a:r>
              <a:rPr lang="en-US" sz="3600" b="1" dirty="0">
                <a:solidFill>
                  <a:schemeClr val="dk1"/>
                </a:solidFill>
              </a:rPr>
              <a:t>DHT22</a:t>
            </a:r>
            <a:r>
              <a:rPr lang="en-US" sz="3600" dirty="0">
                <a:solidFill>
                  <a:schemeClr val="dk1"/>
                </a:solidFill>
              </a:rPr>
              <a:t> for temperature and humidity.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Irrigation Control:</a:t>
            </a:r>
            <a:r>
              <a:rPr lang="en-US" sz="3600" dirty="0">
                <a:solidFill>
                  <a:schemeClr val="dk1"/>
                </a:solidFill>
              </a:rPr>
              <a:t> When soil moisture drops, the motor turns on and activates the irrigation system.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Climate Control:</a:t>
            </a:r>
            <a:r>
              <a:rPr lang="en-US" sz="3600" dirty="0">
                <a:solidFill>
                  <a:schemeClr val="dk1"/>
                </a:solidFill>
              </a:rPr>
              <a:t> When temperature gets high, the servo motor and fan turn on. The </a:t>
            </a:r>
            <a:r>
              <a:rPr lang="en-US" sz="3600" b="1" dirty="0">
                <a:solidFill>
                  <a:schemeClr val="dk1"/>
                </a:solidFill>
              </a:rPr>
              <a:t>fan speed adjusts automatically</a:t>
            </a:r>
            <a:r>
              <a:rPr lang="en-US" sz="3600" dirty="0">
                <a:solidFill>
                  <a:schemeClr val="dk1"/>
                </a:solidFill>
              </a:rPr>
              <a:t>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Communication:</a:t>
            </a:r>
            <a:r>
              <a:rPr lang="en-US" sz="3600" dirty="0">
                <a:solidFill>
                  <a:schemeClr val="dk1"/>
                </a:solidFill>
              </a:rPr>
              <a:t> </a:t>
            </a:r>
            <a:r>
              <a:rPr lang="en-US" sz="3600" b="1" dirty="0">
                <a:solidFill>
                  <a:schemeClr val="dk1"/>
                </a:solidFill>
              </a:rPr>
              <a:t>NRF modules</a:t>
            </a:r>
            <a:r>
              <a:rPr lang="en-US" sz="3600" dirty="0">
                <a:solidFill>
                  <a:schemeClr val="dk1"/>
                </a:solidFill>
              </a:rPr>
              <a:t> are used for wireless data transmission between the node and the Raspberry Pi.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Intelligent Control:</a:t>
            </a:r>
            <a:r>
              <a:rPr lang="en-US" sz="3600" dirty="0">
                <a:solidFill>
                  <a:schemeClr val="dk1"/>
                </a:solidFill>
              </a:rPr>
              <a:t> An ML model dictates the control actions (pump, fan, ventilation) intelligently.</a:t>
            </a:r>
            <a:endParaRPr sz="3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37164-509D-7DD9-F588-3F73CC35FB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2279746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601374" y="561928"/>
            <a:ext cx="4637626" cy="716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Automation System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6887" y="2748641"/>
            <a:ext cx="7086600" cy="533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0803" y="2748642"/>
            <a:ext cx="7086600" cy="5332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365BD-D0FE-76F8-F221-4FF00D6060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18246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2601375" y="561925"/>
            <a:ext cx="12811500" cy="1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 Architecture: Edge AI Gateway and Multi-Node Scalability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2279750" y="2083700"/>
            <a:ext cx="13493400" cy="6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Sensor Node:</a:t>
            </a:r>
            <a:r>
              <a:rPr lang="en-US" sz="3700" dirty="0">
                <a:solidFill>
                  <a:schemeClr val="dk1"/>
                </a:solidFill>
              </a:rPr>
              <a:t> Microcontroller collects sensor data (Moisture, Temp/Humidity) and controls actuators (Pump, Fan).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Wireless Link:</a:t>
            </a:r>
            <a:r>
              <a:rPr lang="en-US" sz="3700" dirty="0">
                <a:solidFill>
                  <a:schemeClr val="dk1"/>
                </a:solidFill>
              </a:rPr>
              <a:t> NRF Transceiver sends data wirelessly.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Edge AI Gateway:</a:t>
            </a:r>
            <a:r>
              <a:rPr lang="en-US" sz="3700" dirty="0">
                <a:solidFill>
                  <a:schemeClr val="dk1"/>
                </a:solidFill>
              </a:rPr>
              <a:t> </a:t>
            </a:r>
            <a:r>
              <a:rPr lang="en-US" sz="3700" b="1" dirty="0">
                <a:solidFill>
                  <a:schemeClr val="dk1"/>
                </a:solidFill>
              </a:rPr>
              <a:t>Raspberry Pi</a:t>
            </a:r>
            <a:r>
              <a:rPr lang="en-US" sz="3700" dirty="0">
                <a:solidFill>
                  <a:schemeClr val="dk1"/>
                </a:solidFill>
              </a:rPr>
              <a:t> receives data from NRF nodes and executes the optimized ML model.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Cloud Interface:</a:t>
            </a:r>
            <a:r>
              <a:rPr lang="en-US" sz="3700" dirty="0">
                <a:solidFill>
                  <a:schemeClr val="dk1"/>
                </a:solidFill>
              </a:rPr>
              <a:t> </a:t>
            </a:r>
            <a:r>
              <a:rPr lang="en-US" sz="3700" b="1" dirty="0">
                <a:solidFill>
                  <a:schemeClr val="dk1"/>
                </a:solidFill>
              </a:rPr>
              <a:t>Firebase Dashboard</a:t>
            </a:r>
            <a:r>
              <a:rPr lang="en-US" sz="3700" dirty="0">
                <a:solidFill>
                  <a:schemeClr val="dk1"/>
                </a:solidFill>
              </a:rPr>
              <a:t> provides real-time monitoring and logging.</a:t>
            </a:r>
            <a:endParaRPr sz="3700" dirty="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 b="1" dirty="0">
                <a:solidFill>
                  <a:schemeClr val="dk1"/>
                </a:solidFill>
              </a:rPr>
              <a:t>User Interface:</a:t>
            </a:r>
            <a:r>
              <a:rPr lang="en-US" sz="3700" dirty="0">
                <a:solidFill>
                  <a:schemeClr val="dk1"/>
                </a:solidFill>
              </a:rPr>
              <a:t> </a:t>
            </a:r>
            <a:r>
              <a:rPr lang="en-US" sz="3700" b="1" dirty="0">
                <a:solidFill>
                  <a:schemeClr val="dk1"/>
                </a:solidFill>
              </a:rPr>
              <a:t>Flutter mobile app</a:t>
            </a:r>
            <a:r>
              <a:rPr lang="en-US" sz="3700" dirty="0">
                <a:solidFill>
                  <a:schemeClr val="dk1"/>
                </a:solidFill>
              </a:rPr>
              <a:t> enables remote control and data visualization.</a:t>
            </a:r>
            <a:endParaRPr sz="3700" dirty="0">
              <a:solidFill>
                <a:schemeClr val="dk1"/>
              </a:solidFill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A6C68-596B-AEDB-7A52-61FCECF860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2601378" y="561925"/>
            <a:ext cx="113820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Technologies &amp; Tools Used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2279750" y="2083700"/>
            <a:ext cx="13493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20"/>
          <p:cNvGraphicFramePr/>
          <p:nvPr/>
        </p:nvGraphicFramePr>
        <p:xfrm>
          <a:off x="2349025" y="2083675"/>
          <a:ext cx="13650875" cy="6995825"/>
        </p:xfrm>
        <a:graphic>
          <a:graphicData uri="http://schemas.openxmlformats.org/drawingml/2006/table">
            <a:tbl>
              <a:tblPr>
                <a:noFill/>
                <a:tableStyleId>{302174E9-2FB8-41E7-A886-9FE34B1A6600}</a:tableStyleId>
              </a:tblPr>
              <a:tblGrid>
                <a:gridCol w="19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4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Component/Phase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highlight>
                            <a:srgbClr val="C9DAF8"/>
                          </a:highlight>
                        </a:rPr>
                        <a:t>Technology/Tool</a:t>
                      </a:r>
                      <a:endParaRPr sz="1100" b="1">
                        <a:highlight>
                          <a:srgbClr val="C9DAF8"/>
                        </a:highlight>
                      </a:endParaRPr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highlight>
                            <a:srgbClr val="C9DAF8"/>
                          </a:highlight>
                        </a:rPr>
                        <a:t>Role in System</a:t>
                      </a:r>
                      <a:endParaRPr sz="1100" b="1">
                        <a:highlight>
                          <a:srgbClr val="C9DAF8"/>
                        </a:highlight>
                      </a:endParaRPr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Edge Hardware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Raspberry Pi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resource-constrained host, performing all processing on-device (Edge AI).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 Runtime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TensorFlow Lite (tflite_runtime)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Lightweight core library for executing the optimized ML model on the Pi's ARM CPU.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&amp; Cloud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Firebase Studio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Real-time, cloud-based monitoring interface.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Video Processing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OpenCV (cv2)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Handles real-time camera stream and pre-processing (e.g., resizing to 224×224 pixels).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Interface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Flutter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to build a modern, intuitive, cross-platform interface (Android/iOS).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8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Communication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NRF Modules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Enables wireless data transfer and scalability to multiple greenhouses.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6DAFA3-B7EB-2A48-A345-E4176FC5AC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601378" y="561925"/>
            <a:ext cx="11382000" cy="16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>
                <a:solidFill>
                  <a:schemeClr val="lt1"/>
                </a:solidFill>
              </a:rPr>
              <a:t>ML Data: Control and Image Pre-processing</a:t>
            </a:r>
            <a:endParaRPr sz="34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40004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2279750" y="2083700"/>
            <a:ext cx="13493400" cy="6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Control Data:</a:t>
            </a:r>
            <a:endParaRPr sz="3000" b="1" dirty="0">
              <a:solidFill>
                <a:schemeClr val="dk1"/>
              </a:solidFill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Description:</a:t>
            </a:r>
            <a:r>
              <a:rPr lang="en-US" sz="3000" dirty="0">
                <a:solidFill>
                  <a:schemeClr val="dk1"/>
                </a:solidFill>
              </a:rPr>
              <a:t> Sensor readings (Moisture, Temp, Humidity) mapped to actuator states (Pump ON/OFF, Fan ON/OFF, Ventilation ON/OFF).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Goal:</a:t>
            </a:r>
            <a:r>
              <a:rPr lang="en-US" sz="3000" dirty="0">
                <a:solidFill>
                  <a:schemeClr val="dk1"/>
                </a:solidFill>
              </a:rPr>
              <a:t> Train a classification model for intelligent decision-making.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Image Data (for Disease Detection):</a:t>
            </a:r>
            <a:endParaRPr sz="3000" b="1" dirty="0">
              <a:solidFill>
                <a:schemeClr val="dk1"/>
              </a:solidFill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Description:</a:t>
            </a:r>
            <a:r>
              <a:rPr lang="en-US" sz="3000" dirty="0">
                <a:solidFill>
                  <a:schemeClr val="dk1"/>
                </a:solidFill>
              </a:rPr>
              <a:t> Images of plant leaves for health classification.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Preprocessing:</a:t>
            </a:r>
            <a:r>
              <a:rPr lang="en-US" sz="3000" dirty="0">
                <a:solidFill>
                  <a:schemeClr val="dk1"/>
                </a:solidFill>
              </a:rPr>
              <a:t> The real-time camera stream is handled by </a:t>
            </a:r>
            <a:r>
              <a:rPr lang="en-US" sz="3000" b="1" dirty="0">
                <a:solidFill>
                  <a:schemeClr val="dk1"/>
                </a:solidFill>
              </a:rPr>
              <a:t>OpenCV</a:t>
            </a:r>
            <a:r>
              <a:rPr lang="en-US" sz="3000" dirty="0">
                <a:solidFill>
                  <a:schemeClr val="dk1"/>
                </a:solidFill>
              </a:rPr>
              <a:t>. Captured frames are resized to </a:t>
            </a:r>
            <a:r>
              <a:rPr lang="en-US" sz="3000" b="1" dirty="0">
                <a:solidFill>
                  <a:schemeClr val="dk1"/>
                </a:solidFill>
              </a:rPr>
              <a:t>224 times 224 pixels</a:t>
            </a:r>
            <a:r>
              <a:rPr lang="en-US" sz="3000" dirty="0">
                <a:solidFill>
                  <a:schemeClr val="dk1"/>
                </a:solidFill>
              </a:rPr>
              <a:t> before being fed to the TensorFlow Lite model.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000" b="1" dirty="0">
                <a:solidFill>
                  <a:schemeClr val="dk1"/>
                </a:solidFill>
              </a:rPr>
              <a:t>Training Outcome:</a:t>
            </a:r>
            <a:r>
              <a:rPr lang="en-US" sz="3000" dirty="0">
                <a:solidFill>
                  <a:schemeClr val="dk1"/>
                </a:solidFill>
              </a:rPr>
              <a:t> The model was trained successfully with accuracy stabilizing around 74% and loss minimizing very quickly</a:t>
            </a:r>
            <a:endParaRPr sz="55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6C7F8-C80E-04AC-890B-24CAF4FCD1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601378" y="561925"/>
            <a:ext cx="1138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Machine Learning for Control and Detection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2279750" y="2083700"/>
            <a:ext cx="13493400" cy="6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Model Type:</a:t>
            </a:r>
            <a:r>
              <a:rPr lang="en-US" sz="3600" dirty="0">
                <a:solidFill>
                  <a:schemeClr val="dk1"/>
                </a:solidFill>
              </a:rPr>
              <a:t> Classification model for control actions and image classification for health monitoring.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Control Logic:</a:t>
            </a:r>
            <a:r>
              <a:rPr lang="en-US" sz="3600" dirty="0">
                <a:solidFill>
                  <a:schemeClr val="dk1"/>
                </a:solidFill>
              </a:rPr>
              <a:t> The model determines the optimal ON/OFF state for the Pump, Fan, and Ventilation based on sensor data.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Deployment:</a:t>
            </a:r>
            <a:r>
              <a:rPr lang="en-US" sz="3600" dirty="0">
                <a:solidFill>
                  <a:schemeClr val="dk1"/>
                </a:solidFill>
              </a:rPr>
              <a:t> Model is optimized and executed on the resource-constrained Raspberry Pi using </a:t>
            </a:r>
            <a:r>
              <a:rPr lang="en-US" sz="3600" b="1" dirty="0">
                <a:solidFill>
                  <a:schemeClr val="dk1"/>
                </a:solidFill>
              </a:rPr>
              <a:t>TensorFlow Lite</a:t>
            </a:r>
            <a:r>
              <a:rPr lang="en-US" sz="3600" dirty="0">
                <a:solidFill>
                  <a:schemeClr val="dk1"/>
                </a:solidFill>
              </a:rPr>
              <a:t> (Edge AI).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Reliability:</a:t>
            </a:r>
            <a:r>
              <a:rPr lang="en-US" sz="3600" dirty="0">
                <a:solidFill>
                  <a:schemeClr val="dk1"/>
                </a:solidFill>
              </a:rPr>
              <a:t> The model demonstrated high reliability in control, with validation metrics closely mirroring training metrics (no catastrophic overfitting).</a:t>
            </a: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654193-CAA0-E00C-5A0D-EB14EDB92F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Core Features: Automation, Edge AI, and Remote Management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2279750" y="2083700"/>
            <a:ext cx="13493400" cy="6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Intelligent Automation:</a:t>
            </a:r>
            <a:r>
              <a:rPr lang="en-US" sz="3600" dirty="0">
                <a:solidFill>
                  <a:schemeClr val="dk1"/>
                </a:solidFill>
              </a:rPr>
              <a:t> ML-dictated control of irrigation (Pump) and climate (Fan/Ventilation).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Real-Time Dashboard (Firebase):</a:t>
            </a:r>
            <a:r>
              <a:rPr lang="en-US" sz="3600" dirty="0">
                <a:solidFill>
                  <a:schemeClr val="dk1"/>
                </a:solidFill>
              </a:rPr>
              <a:t> Cloud-based monitoring showing live KPIs and a Leaf Health Index.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Early Disease Detection (Edge AI):</a:t>
            </a:r>
            <a:r>
              <a:rPr lang="en-US" sz="3600" dirty="0">
                <a:solidFill>
                  <a:schemeClr val="dk1"/>
                </a:solidFill>
              </a:rPr>
              <a:t> Real-time image classification on the Raspberry Pi identifies plant health issues.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Mobile App:</a:t>
            </a:r>
            <a:r>
              <a:rPr lang="en-US" sz="3600" dirty="0">
                <a:solidFill>
                  <a:schemeClr val="dk1"/>
                </a:solidFill>
              </a:rPr>
              <a:t> Cross-platform access for remote management, data visualization, and </a:t>
            </a:r>
            <a:r>
              <a:rPr lang="en-US" sz="3600" b="1" dirty="0">
                <a:solidFill>
                  <a:schemeClr val="dk1"/>
                </a:solidFill>
              </a:rPr>
              <a:t>early alarming</a:t>
            </a:r>
            <a:r>
              <a:rPr lang="en-US" sz="3600" dirty="0">
                <a:solidFill>
                  <a:schemeClr val="dk1"/>
                </a:solidFill>
              </a:rPr>
              <a:t>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Scalability:</a:t>
            </a:r>
            <a:r>
              <a:rPr lang="en-US" sz="3600" dirty="0">
                <a:solidFill>
                  <a:schemeClr val="dk1"/>
                </a:solidFill>
              </a:rPr>
              <a:t> System can be expanded to manage multiple NRF nodes across multiple greenhouses.</a:t>
            </a: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A2925-3DD3-9154-6870-A13C81FEA5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/>
          <p:nvPr/>
        </p:nvSpPr>
        <p:spPr>
          <a:xfrm>
            <a:off x="2279746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88" name="Google Shape;188;p24"/>
          <p:cNvSpPr txBox="1"/>
          <p:nvPr/>
        </p:nvSpPr>
        <p:spPr>
          <a:xfrm>
            <a:off x="2601374" y="561928"/>
            <a:ext cx="7136063" cy="71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Firebase Dashboard</a:t>
            </a:r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3232" y="2045593"/>
            <a:ext cx="12953631" cy="675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6DBA43-7D09-DB88-D776-53F1277CB4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2279746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97" name="Google Shape;197;p25"/>
          <p:cNvSpPr txBox="1"/>
          <p:nvPr/>
        </p:nvSpPr>
        <p:spPr>
          <a:xfrm>
            <a:off x="2601374" y="561928"/>
            <a:ext cx="7136063" cy="71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 Dashboard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2279745" y="2045593"/>
            <a:ext cx="5797455" cy="809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(UI)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Cross-Platform Interface (Flutter):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system uses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build a modern, intuitive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Greenhouse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application. This allows the same codebase to run on both Android and iOS, providing wide accessibility for monitoring.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Data Visualization: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mobile app displays key sensor metrics in real-time, including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Soil Moisture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 Speed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This gives the user immediate visibility into the greenhouse environment.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Remote Control and Automation: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application includes toggle controls (switches) for activating components like 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Pump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setting the system to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Mode (Automatic Control)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allowing users to remotely manage the greenhouse conditions.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3400" y="2045593"/>
            <a:ext cx="9601200" cy="73841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2DB393-3984-E612-D482-CE09731B18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Prototype Output: Live Dashboard and Mobile Interface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2279750" y="1617000"/>
            <a:ext cx="13493400" cy="9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solidFill>
                  <a:schemeClr val="dk1"/>
                </a:solidFill>
              </a:rPr>
              <a:t>Dashboard Display:</a:t>
            </a:r>
            <a:endParaRPr sz="2600" b="1">
              <a:solidFill>
                <a:schemeClr val="dk1"/>
              </a:solidFill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Shows current conditions: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Temperature: 24.7∘C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Humidity: 67.4%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Soil Moisture: 56.1%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solidFill>
                  <a:schemeClr val="dk1"/>
                </a:solidFill>
              </a:rPr>
              <a:t>Mobile App Interface:</a:t>
            </a:r>
            <a:endParaRPr sz="2600" b="1">
              <a:solidFill>
                <a:schemeClr val="dk1"/>
              </a:solidFill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Displays sensor metrics: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Temperature: 29.5∘C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Fan Speed: 70%</a:t>
            </a:r>
            <a:endParaRPr sz="2600">
              <a:solidFill>
                <a:schemeClr val="dk1"/>
              </a:solidFill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Provides toggles for: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Pump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Auto Mode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solidFill>
                  <a:schemeClr val="dk1"/>
                </a:solidFill>
              </a:rPr>
              <a:t>Terminal Output (Raspberry Pi):</a:t>
            </a:r>
            <a:endParaRPr sz="2600" b="1">
              <a:solidFill>
                <a:schemeClr val="dk1"/>
              </a:solidFill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Shows system processes and package installations: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OpenCV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Debian Trixie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600" b="1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6D32F-2EC7-3CF4-AC49-C10405A429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System Deployment and Validation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2279750" y="1617000"/>
            <a:ext cx="13493400" cy="789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3600"/>
              <a:buChar char="●"/>
            </a:pPr>
            <a:r>
              <a:rPr lang="en-US" sz="3600" b="1">
                <a:solidFill>
                  <a:schemeClr val="dk1"/>
                </a:solidFill>
              </a:rPr>
              <a:t>Hardware Implementation:</a:t>
            </a:r>
            <a:r>
              <a:rPr lang="en-US" sz="3600">
                <a:solidFill>
                  <a:schemeClr val="dk1"/>
                </a:solidFill>
              </a:rPr>
              <a:t> Successfully implemented the IoT hardware platform, integrating sensors, actuators, and NRF wireless communication.</a:t>
            </a:r>
          </a:p>
          <a:p>
            <a:pPr marL="457200" lvl="0" indent="-457200">
              <a:lnSpc>
                <a:spcPct val="115000"/>
              </a:lnSpc>
              <a:buClr>
                <a:schemeClr val="dk1"/>
              </a:buClr>
              <a:buSzPts val="3600"/>
              <a:buChar char="●"/>
            </a:pPr>
            <a:r>
              <a:rPr lang="en-US" sz="3600" b="1">
                <a:solidFill>
                  <a:schemeClr val="dk1"/>
                </a:solidFill>
              </a:rPr>
              <a:t>Model Training and Deployment:</a:t>
            </a:r>
            <a:r>
              <a:rPr lang="en-US" sz="3600">
                <a:solidFill>
                  <a:schemeClr val="dk1"/>
                </a:solidFill>
              </a:rPr>
              <a:t> Trained the ML model and deployed it on the Raspberry Pi using TensorFlow Lite for intelligent control actions.</a:t>
            </a:r>
          </a:p>
          <a:p>
            <a:pPr marL="457200" lvl="0" indent="-457200">
              <a:lnSpc>
                <a:spcPct val="115000"/>
              </a:lnSpc>
              <a:buClr>
                <a:schemeClr val="dk1"/>
              </a:buClr>
              <a:buSzPts val="3600"/>
              <a:buChar char="●"/>
            </a:pPr>
            <a:r>
              <a:rPr lang="en-US" sz="3600" b="1">
                <a:solidFill>
                  <a:schemeClr val="dk1"/>
                </a:solidFill>
              </a:rPr>
              <a:t>System Reliability:</a:t>
            </a:r>
            <a:r>
              <a:rPr lang="en-US" sz="3600">
                <a:solidFill>
                  <a:schemeClr val="dk1"/>
                </a:solidFill>
              </a:rPr>
              <a:t> Achieved a model accuracy of 74.6%, with control decisions demonstrating extremely high reliability (AUC = 1.00) on the test set.</a:t>
            </a:r>
          </a:p>
          <a:p>
            <a:pPr marL="457200" lvl="0" indent="-457200">
              <a:lnSpc>
                <a:spcPct val="115000"/>
              </a:lnSpc>
              <a:buClr>
                <a:schemeClr val="dk1"/>
              </a:buClr>
              <a:buSzPts val="3600"/>
              <a:buChar char="●"/>
            </a:pPr>
            <a:r>
              <a:rPr lang="en-US" sz="3600" b="1">
                <a:solidFill>
                  <a:schemeClr val="dk1"/>
                </a:solidFill>
              </a:rPr>
              <a:t>User Interface:</a:t>
            </a:r>
            <a:r>
              <a:rPr lang="en-US" sz="3600">
                <a:solidFill>
                  <a:schemeClr val="dk1"/>
                </a:solidFill>
              </a:rPr>
              <a:t> Developed a functional Firebase dashboard and a cross-platform Flutter mobile application for real-time monitoring and remote control.</a:t>
            </a:r>
            <a:endParaRPr lang="en-US"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13CF7-F40A-0898-C1B2-B47C00A874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2279746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22" name="Google Shape;222;p28"/>
          <p:cNvSpPr txBox="1"/>
          <p:nvPr/>
        </p:nvSpPr>
        <p:spPr>
          <a:xfrm>
            <a:off x="2601374" y="561928"/>
            <a:ext cx="7136063" cy="71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Accuracy</a:t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5546" y="1834769"/>
            <a:ext cx="7465234" cy="78508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F38491-77E0-3335-85F0-C040D45104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Results &amp; Evaluation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2279750" y="1617000"/>
            <a:ext cx="13493400" cy="7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Overall Test Accuracy:</a:t>
            </a:r>
            <a:r>
              <a:rPr lang="en-US" sz="3600" dirty="0">
                <a:solidFill>
                  <a:schemeClr val="dk1"/>
                </a:solidFill>
              </a:rPr>
              <a:t> 74.6%.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Control System Accuracy:</a:t>
            </a:r>
            <a:r>
              <a:rPr lang="en-US" sz="3600" dirty="0">
                <a:solidFill>
                  <a:schemeClr val="dk1"/>
                </a:solidFill>
              </a:rPr>
              <a:t> The ML model achieved extremely high accuracy and low error rates for all three control systems (Pump, Fan, Ventilation).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ROC Curve (AUC):</a:t>
            </a:r>
            <a:r>
              <a:rPr lang="en-US" sz="3600" dirty="0">
                <a:solidFill>
                  <a:schemeClr val="dk1"/>
                </a:solidFill>
              </a:rPr>
              <a:t> </a:t>
            </a:r>
            <a:r>
              <a:rPr lang="en-US" sz="3600" b="1" dirty="0">
                <a:solidFill>
                  <a:schemeClr val="dk1"/>
                </a:solidFill>
              </a:rPr>
              <a:t>1.00</a:t>
            </a:r>
            <a:r>
              <a:rPr lang="en-US" sz="3600" dirty="0">
                <a:solidFill>
                  <a:schemeClr val="dk1"/>
                </a:solidFill>
              </a:rPr>
              <a:t> for Pump, Fan, and Ventilation.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Precision-Recall:</a:t>
            </a:r>
            <a:r>
              <a:rPr lang="en-US" sz="3600" dirty="0">
                <a:solidFill>
                  <a:schemeClr val="dk1"/>
                </a:solidFill>
              </a:rPr>
              <a:t> Average Precision = 1.00 for Pump, Fan, and Ventilation.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 dirty="0">
                <a:solidFill>
                  <a:schemeClr val="dk1"/>
                </a:solidFill>
              </a:rPr>
              <a:t>Conclusion:</a:t>
            </a:r>
            <a:r>
              <a:rPr lang="en-US" sz="3600" dirty="0">
                <a:solidFill>
                  <a:schemeClr val="dk1"/>
                </a:solidFill>
              </a:rPr>
              <a:t> These scores indicate the model is making the correct control decisions (ON/OFF) based on sensor data with virtually perfect accuracy on the test set.</a:t>
            </a:r>
            <a:endParaRPr sz="3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6664B9-F625-8480-1D2F-E306C3B504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/>
          <p:nvPr/>
        </p:nvSpPr>
        <p:spPr>
          <a:xfrm>
            <a:off x="2076129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2601374" y="561928"/>
            <a:ext cx="8828626" cy="716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7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ROC Curve  and Precision-Recall curve</a:t>
            </a:r>
            <a:endParaRPr/>
          </a:p>
        </p:txBody>
      </p:sp>
      <p:grpSp>
        <p:nvGrpSpPr>
          <p:cNvPr id="239" name="Google Shape;239;p30"/>
          <p:cNvGrpSpPr/>
          <p:nvPr/>
        </p:nvGrpSpPr>
        <p:grpSpPr>
          <a:xfrm>
            <a:off x="947737" y="2171700"/>
            <a:ext cx="16392525" cy="5943600"/>
            <a:chOff x="457200" y="2171700"/>
            <a:chExt cx="16392525" cy="5943600"/>
          </a:xfrm>
        </p:grpSpPr>
        <p:pic>
          <p:nvPicPr>
            <p:cNvPr id="240" name="Google Shape;240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2171700"/>
              <a:ext cx="8162925" cy="594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86800" y="2171700"/>
              <a:ext cx="8162925" cy="594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86D43-A0C7-39AE-702B-36A929149FF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Key Challenges in AIoT Deployment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2279750" y="1617000"/>
            <a:ext cx="13493400" cy="8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Hardware Implementation:</a:t>
            </a:r>
            <a:r>
              <a:rPr lang="en-US" sz="2700">
                <a:solidFill>
                  <a:schemeClr val="dk1"/>
                </a:solidFill>
              </a:rPr>
              <a:t> Successfully implemented the IoT hardware platform, integrating sensors, actuators, and NRF wireless communication.Hardware Integration: Integrating diverse components (Arduino/microcontroller, Raspberry Pi, NRF modules, relays, sensors) into a cohesive, reliable system.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Model Optimization for Edge:</a:t>
            </a:r>
            <a:r>
              <a:rPr lang="en-US" sz="2700">
                <a:solidFill>
                  <a:schemeClr val="dk1"/>
                </a:solidFill>
              </a:rPr>
              <a:t> Optimizing the machine learning model (e.g., for image classification) to run efficiently on the resource-constrained Raspberry Pi CPU using TensorFlow Lite.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Data Reliability:</a:t>
            </a:r>
            <a:r>
              <a:rPr lang="en-US" sz="2700">
                <a:solidFill>
                  <a:schemeClr val="dk1"/>
                </a:solidFill>
              </a:rPr>
              <a:t> Ensuring the consistency and integrity of sensor data transmitted wirelessly via NRF modules.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Scalability Management:</a:t>
            </a:r>
            <a:r>
              <a:rPr lang="en-US" sz="2700">
                <a:solidFill>
                  <a:schemeClr val="dk1"/>
                </a:solidFill>
              </a:rPr>
              <a:t> Configuring a single Raspberry Pi to efficiently manage data and commands from multiple NRF nodes/greenhouses.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Model Training and Deployment:</a:t>
            </a:r>
            <a:r>
              <a:rPr lang="en-US" sz="2700">
                <a:solidFill>
                  <a:schemeClr val="dk1"/>
                </a:solidFill>
              </a:rPr>
              <a:t> Trained the ML model and deployed it on the Raspberry Pi using TensorFlow Lite for intelligent control actions.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System Reliability:</a:t>
            </a:r>
            <a:r>
              <a:rPr lang="en-US" sz="2700">
                <a:solidFill>
                  <a:schemeClr val="dk1"/>
                </a:solidFill>
              </a:rPr>
              <a:t> Achieved a model accuracy of 74.6%, with control decisions demonstrating extremely high reliability (AUC = 1.00) on the test set.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b="1">
                <a:solidFill>
                  <a:schemeClr val="dk1"/>
                </a:solidFill>
              </a:rPr>
              <a:t>User Interface:</a:t>
            </a:r>
            <a:r>
              <a:rPr lang="en-US" sz="2700">
                <a:solidFill>
                  <a:schemeClr val="dk1"/>
                </a:solidFill>
              </a:rPr>
              <a:t> Developed a functional Firebase dashboard and a cross-platform Flutter mobile application for real-time monitoring and remote control.</a:t>
            </a:r>
            <a:endParaRPr sz="2700" b="1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E14F60-5F7B-80FF-2658-977F2A0A70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Expanding to Global and Predictive Agriculture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2279750" y="1879950"/>
            <a:ext cx="13493400" cy="7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Seasonal Data Repository:</a:t>
            </a:r>
            <a:r>
              <a:rPr lang="en-US" sz="3600" dirty="0">
                <a:solidFill>
                  <a:schemeClr val="dk1"/>
                </a:solidFill>
              </a:rPr>
              <a:t> Implement storage and analysis of seasonal data to establish and optimize growth "recipes" for specific medicinal plants.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Global Adaptability:</a:t>
            </a:r>
            <a:r>
              <a:rPr lang="en-US" sz="3600" dirty="0">
                <a:solidFill>
                  <a:schemeClr val="dk1"/>
                </a:solidFill>
              </a:rPr>
              <a:t> Develop logic to use stored seasonal data to automatically adjust greenhouse parameters based on a region's current climate, enabling global crop viability.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Predictive Maintenance:</a:t>
            </a:r>
            <a:r>
              <a:rPr lang="en-US" sz="3600" dirty="0">
                <a:solidFill>
                  <a:schemeClr val="dk1"/>
                </a:solidFill>
              </a:rPr>
              <a:t> Incorporate advanced time-series analysis to predict component failures or required environmental adjustments.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Enhanced Sensing:</a:t>
            </a:r>
            <a:r>
              <a:rPr lang="en-US" sz="3600" dirty="0">
                <a:solidFill>
                  <a:schemeClr val="dk1"/>
                </a:solidFill>
              </a:rPr>
              <a:t> Add support for more advanced sensors (e.g., pH, CO_2 concentration) for holistic crop management.</a:t>
            </a: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46D1F-2AB3-9D44-05B9-E87D2CB797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Project Phases and Progress (Estimated Timeline)</a:t>
            </a:r>
            <a:endParaRPr sz="6372">
              <a:solidFill>
                <a:schemeClr val="lt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 t="-2875" r="3465" b="-2067"/>
          <a:stretch/>
        </p:blipFill>
        <p:spPr>
          <a:xfrm>
            <a:off x="2221000" y="1846307"/>
            <a:ext cx="13720150" cy="75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55DB0-39D4-9838-557D-A4FDD82626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2279746" y="0"/>
            <a:ext cx="13720144" cy="1483453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2601375" y="561925"/>
            <a:ext cx="1295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</a:rPr>
              <a:t>Conclusion: AIoT for Sustainable Precision Agriculture</a:t>
            </a:r>
            <a:endParaRPr sz="3400" b="1">
              <a:solidFill>
                <a:schemeClr val="lt1"/>
              </a:solidFill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2279750" y="1879950"/>
            <a:ext cx="13493400" cy="82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System Success:</a:t>
            </a:r>
            <a:r>
              <a:rPr lang="en-US" sz="3600" dirty="0">
                <a:solidFill>
                  <a:schemeClr val="dk1"/>
                </a:solidFill>
              </a:rPr>
              <a:t> We successfully developed and validated an </a:t>
            </a:r>
            <a:r>
              <a:rPr lang="en-US" sz="3600" b="1" dirty="0">
                <a:solidFill>
                  <a:schemeClr val="dk1"/>
                </a:solidFill>
              </a:rPr>
              <a:t>AIoT-Based Smart Climate-Aware Greenhouse System</a:t>
            </a:r>
            <a:r>
              <a:rPr lang="en-US" sz="3600" dirty="0">
                <a:solidFill>
                  <a:schemeClr val="dk1"/>
                </a:solidFill>
              </a:rPr>
              <a:t>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Precision Control:</a:t>
            </a:r>
            <a:r>
              <a:rPr lang="en-US" sz="3600" dirty="0">
                <a:solidFill>
                  <a:schemeClr val="dk1"/>
                </a:solidFill>
              </a:rPr>
              <a:t> The system delivers consistent, precise environmental management using a highly reliable ML control model (AUC= 1.00).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Key Features:</a:t>
            </a:r>
            <a:r>
              <a:rPr lang="en-US" sz="3600" dirty="0">
                <a:solidFill>
                  <a:schemeClr val="dk1"/>
                </a:solidFill>
              </a:rPr>
              <a:t> Integrated with scalable wireless communication, a real-time monitoring dashboard, and a cross-platform mobile app for remote management and alarming.</a:t>
            </a:r>
            <a:endParaRPr sz="3600"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 b="1" dirty="0">
                <a:solidFill>
                  <a:schemeClr val="dk1"/>
                </a:solidFill>
              </a:rPr>
              <a:t>Impact:</a:t>
            </a:r>
            <a:r>
              <a:rPr lang="en-US" sz="3600" dirty="0">
                <a:solidFill>
                  <a:schemeClr val="dk1"/>
                </a:solidFill>
              </a:rPr>
              <a:t> This platform enables the sustainable and efficient cultivation of high-value and medicinal plants by mitigating environmental inconsistency and facilitating global crop viability.</a:t>
            </a: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CD6107-5FA6-A538-9399-52B23025C8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2279746" y="0"/>
            <a:ext cx="13722115" cy="1483665"/>
          </a:xfrm>
          <a:custGeom>
            <a:avLst/>
            <a:gdLst/>
            <a:ahLst/>
            <a:cxnLst/>
            <a:rect l="l" t="t" r="r" b="b"/>
            <a:pathLst>
              <a:path w="4607941" h="498221" extrusionOk="0">
                <a:moveTo>
                  <a:pt x="0" y="498221"/>
                </a:moveTo>
                <a:lnTo>
                  <a:pt x="4607941" y="498221"/>
                </a:lnTo>
                <a:lnTo>
                  <a:pt x="4607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A192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0" name="Google Shape;280;p35"/>
          <p:cNvSpPr txBox="1"/>
          <p:nvPr/>
        </p:nvSpPr>
        <p:spPr>
          <a:xfrm>
            <a:off x="3482675" y="3415825"/>
            <a:ext cx="12144000" cy="2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68" b="1" dirty="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8268" b="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Thank Y</a:t>
            </a:r>
            <a:r>
              <a:rPr lang="en-US" sz="18268" b="1" dirty="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</a:t>
            </a:r>
            <a:r>
              <a:rPr lang="en-US" sz="18268" b="1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       </a:t>
            </a:r>
            <a:endParaRPr dirty="0"/>
          </a:p>
        </p:txBody>
      </p:sp>
      <p:sp>
        <p:nvSpPr>
          <p:cNvPr id="281" name="Google Shape;281;p35"/>
          <p:cNvSpPr txBox="1"/>
          <p:nvPr/>
        </p:nvSpPr>
        <p:spPr>
          <a:xfrm>
            <a:off x="15081244" y="9913182"/>
            <a:ext cx="694199" cy="29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7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F893C-BF5D-FFEE-0DE2-93BC6541F5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154400" y="988030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1746</Words>
  <Application>Microsoft Office PowerPoint</Application>
  <PresentationFormat>Custom</PresentationFormat>
  <Paragraphs>157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Arial</vt:lpstr>
      <vt:lpstr>IBM Plex Sans Condensed</vt:lpstr>
      <vt:lpstr>Open Sans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22PWCSE2213</cp:lastModifiedBy>
  <cp:revision>1</cp:revision>
  <dcterms:modified xsi:type="dcterms:W3CDTF">2025-12-12T11:13:55Z</dcterms:modified>
</cp:coreProperties>
</file>